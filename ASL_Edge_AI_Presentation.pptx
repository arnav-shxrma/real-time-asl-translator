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52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our team of 10 will walk the board through a sign language recognition project: what it is for, why we chose it, how it works, which technologies we used, and how effectively vibe coding got us there. The skeleton strip at the bottom is what the AI actually sees: one hand skeleton per letter A to 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One: the communication gap is real. Two: sign language is a natural fit for edge AI because camera video of people is private, so processing on the device is a genuine benefit, not a buzzword. Three: it was a rich project to test vibe coding on, since it spans computer vision, model training, deployment and interface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itself. It recognises all 26 letters live, forms words, and uses a separate motion rule-set for J and Z, because those two are gestures rather than still poses. The interface deliberately shows the skeleton and top 3 predictions so anyone can see what the AI is thinking.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Webcam captures. MediaPipe finds 21 landmarks on the hand. We centre and scale them and redraw a clean skeleton. The CNN classifies that skeleton into one of 26 letters. The key design idea: the model only sees hand structure, so it is robust to lighting, background and skin tone. The 1-euro filter removes jitter without making fast gestures feel laggy.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MediaPipe. Training: TensorFlow and Keras. Deployment: ONNX Runtime, which is what makes this edge AI, since the final model is only about 1.2 megabytes and runs on CPU. Two environments are needed because MediaPipe and current TensorFlow require conflicting protobuf versions.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small on purpose. Three convolution blocks with 32, 64 and 128 filters, global average pooling, a 128 unit dense layer, and 26 outputs. Small means fast on CPU, which is what edge deployment needs. After training, we converted it to ONNX and verified the conversion matches Keras to within 1e-5.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Landmarks were extracted once from about 78,000 photographs plus two other datasets. We split into 53,207 training, 13,300 validation, and 765 test samples where the test set is an entirely different dataset. Training stopped early at the best epoch, and the curves show training and validation staying close, which means the model is learning, not memorising. Honest result: 96.8 percent validation, 93.7 percent on unseen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vibe coding story. AI generated most of the code quickly. But the first version looked great on paper at 97.9 percent and failed on a live webcam, because near-duplicate video frames leaked into validation. Fixing that meant rebuilding the pipeline and measuring honestly. The takeaway for the board: vibe coding accelerates building, but human-led verification is what makes the result trustworthy.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are strong and honestly reported. Once the model commits a letter it is right about 97 percent of the time. Limits: the letter N is weak because M, N, S and T are all fists with the thumb in a different place, and N had the fewest training samples. Next steps are more signers, a learned temporal model for J and Z, and moving from letters to words.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run a live demo with the webcam.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pic>
        <p:nvPicPr>
          <p:cNvPr id="3" name="Image 0" descr="/home/claude/assets/render-check.png"/>
          <p:cNvPicPr>
            <a:picLocks noChangeAspect="1"/>
          </p:cNvPicPr>
          <p:nvPr/>
        </p:nvPicPr>
        <p:blipFill>
          <a:blip r:embed="rId3">
            <a:alphaModFix amt="65000"/>
          </a:blip>
          <a:stretch>
            <a:fillRect/>
          </a:stretch>
        </p:blipFill>
        <p:spPr>
          <a:xfrm>
            <a:off x="548640" y="3488043"/>
            <a:ext cx="8046720" cy="1444283"/>
          </a:xfrm>
          <a:prstGeom prst="rect">
            <a:avLst/>
          </a:prstGeom>
        </p:spPr>
      </p:pic>
      <p:sp>
        <p:nvSpPr>
          <p:cNvPr id="4" name="Text 1"/>
          <p:cNvSpPr txBox="1"/>
          <p:nvPr/>
        </p:nvSpPr>
        <p:spPr>
          <a:xfrm>
            <a:off x="548640" y="640080"/>
            <a:ext cx="7315200" cy="320040"/>
          </a:xfrm>
          <a:prstGeom prst="rect">
            <a:avLst/>
          </a:prstGeom>
          <a:noFill/>
          <a:ln/>
        </p:spPr>
        <p:txBody>
          <a:bodyPr wrap="square" lIns="0" tIns="0" rIns="0" bIns="0" rtlCol="0" anchor="ctr"/>
          <a:lstStyle/>
          <a:p>
            <a:pPr marL="0" indent="0">
              <a:buNone/>
            </a:pPr>
            <a:r>
              <a:rPr lang="en-US" sz="1300" b="1" kern="0" spc="400" dirty="0">
                <a:solidFill>
                  <a:srgbClr val="2F7BF6"/>
                </a:solidFill>
              </a:rPr>
              <a:t>WELCOME  |  EDGE AI PROJECT</a:t>
            </a:r>
            <a:endParaRPr lang="en-US" sz="1300" dirty="0"/>
          </a:p>
        </p:txBody>
      </p:sp>
      <p:sp>
        <p:nvSpPr>
          <p:cNvPr id="5" name="Text 2"/>
          <p:cNvSpPr txBox="1"/>
          <p:nvPr/>
        </p:nvSpPr>
        <p:spPr>
          <a:xfrm>
            <a:off x="548640" y="1051560"/>
            <a:ext cx="8046720" cy="822960"/>
          </a:xfrm>
          <a:prstGeom prst="rect">
            <a:avLst/>
          </a:prstGeom>
          <a:noFill/>
          <a:ln/>
        </p:spPr>
        <p:txBody>
          <a:bodyPr wrap="square" lIns="0" tIns="0" rIns="0" bIns="0" rtlCol="0" anchor="ctr"/>
          <a:lstStyle/>
          <a:p>
            <a:pPr marL="0" indent="0">
              <a:buNone/>
            </a:pPr>
            <a:r>
              <a:rPr lang="en-US" sz="4400" b="1" dirty="0">
                <a:solidFill>
                  <a:srgbClr val="FFFFFF"/>
                </a:solidFill>
              </a:rPr>
              <a:t>Real-Time ASL Translator</a:t>
            </a:r>
            <a:endParaRPr lang="en-US" sz="4400" dirty="0"/>
          </a:p>
        </p:txBody>
      </p:sp>
      <p:sp>
        <p:nvSpPr>
          <p:cNvPr id="6" name="Text 3"/>
          <p:cNvSpPr txBox="1"/>
          <p:nvPr/>
        </p:nvSpPr>
        <p:spPr>
          <a:xfrm>
            <a:off x="548640" y="1965960"/>
            <a:ext cx="6949440" cy="822960"/>
          </a:xfrm>
          <a:prstGeom prst="rect">
            <a:avLst/>
          </a:prstGeom>
          <a:noFill/>
          <a:ln/>
        </p:spPr>
        <p:txBody>
          <a:bodyPr wrap="square" lIns="0" tIns="0" rIns="0" bIns="0" rtlCol="0" anchor="t"/>
          <a:lstStyle/>
          <a:p>
            <a:pPr marL="0" indent="0">
              <a:buNone/>
            </a:pPr>
            <a:r>
              <a:rPr lang="en-US" sz="1800" dirty="0">
                <a:solidFill>
                  <a:srgbClr val="C9D4E5"/>
                </a:solidFill>
              </a:rPr>
              <a:t>Reading sign language letters live from a webcam, running entirely on-device, and built with vibe coding.</a:t>
            </a:r>
            <a:endParaRPr lang="en-US" sz="1800" dirty="0"/>
          </a:p>
        </p:txBody>
      </p:sp>
      <p:sp>
        <p:nvSpPr>
          <p:cNvPr id="7" name="Text 4"/>
          <p:cNvSpPr txBox="1"/>
          <p:nvPr/>
        </p:nvSpPr>
        <p:spPr>
          <a:xfrm>
            <a:off x="548640" y="2948941"/>
            <a:ext cx="7315200" cy="320040"/>
          </a:xfrm>
          <a:prstGeom prst="rect">
            <a:avLst/>
          </a:prstGeom>
          <a:noFill/>
          <a:ln/>
        </p:spPr>
        <p:txBody>
          <a:bodyPr wrap="square" lIns="0" tIns="0" rIns="0" bIns="0" rtlCol="0" anchor="ctr"/>
          <a:lstStyle/>
          <a:p>
            <a:pPr marL="0" indent="0">
              <a:buNone/>
            </a:pPr>
            <a:r>
              <a:rPr lang="en-US" sz="1400" dirty="0">
                <a:solidFill>
                  <a:srgbClr val="8FA3C2"/>
                </a:solidFill>
              </a:rPr>
              <a:t>Presented by Team no. 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THE PROBLEM</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Why we chose this topic</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2</a:t>
            </a:r>
            <a:endParaRPr lang="en-US" sz="1000" dirty="0"/>
          </a:p>
        </p:txBody>
      </p:sp>
      <p:sp>
        <p:nvSpPr>
          <p:cNvPr id="6" name="Shape 4"/>
          <p:cNvSpPr/>
          <p:nvPr/>
        </p:nvSpPr>
        <p:spPr>
          <a:xfrm>
            <a:off x="502920" y="1371600"/>
            <a:ext cx="2651760" cy="2194560"/>
          </a:xfrm>
          <a:prstGeom prst="rect">
            <a:avLst/>
          </a:prstGeom>
          <a:solidFill>
            <a:srgbClr val="FFFFFF"/>
          </a:solidFill>
          <a:ln w="12700">
            <a:solidFill>
              <a:srgbClr val="DCE3EE"/>
            </a:solidFill>
            <a:prstDash val="solid"/>
          </a:ln>
        </p:spPr>
      </p:sp>
      <p:sp>
        <p:nvSpPr>
          <p:cNvPr id="7" name="Shape 5"/>
          <p:cNvSpPr/>
          <p:nvPr/>
        </p:nvSpPr>
        <p:spPr>
          <a:xfrm>
            <a:off x="502920" y="1371600"/>
            <a:ext cx="64008" cy="2194560"/>
          </a:xfrm>
          <a:prstGeom prst="rect">
            <a:avLst/>
          </a:prstGeom>
          <a:solidFill>
            <a:srgbClr val="2F7BF6"/>
          </a:solidFill>
          <a:ln w="12700">
            <a:solidFill>
              <a:srgbClr val="2F7BF6"/>
            </a:solidFill>
            <a:prstDash val="solid"/>
          </a:ln>
        </p:spPr>
      </p:sp>
      <p:sp>
        <p:nvSpPr>
          <p:cNvPr id="8" name="Text 6"/>
          <p:cNvSpPr txBox="1"/>
          <p:nvPr/>
        </p:nvSpPr>
        <p:spPr>
          <a:xfrm>
            <a:off x="685800" y="14630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A real communication gap</a:t>
            </a:r>
            <a:endParaRPr lang="en-US" sz="1400" dirty="0"/>
          </a:p>
        </p:txBody>
      </p:sp>
      <p:sp>
        <p:nvSpPr>
          <p:cNvPr id="9" name="Text 7"/>
          <p:cNvSpPr txBox="1"/>
          <p:nvPr/>
        </p:nvSpPr>
        <p:spPr>
          <a:xfrm>
            <a:off x="685800" y="1783080"/>
            <a:ext cx="2377440" cy="17190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Millions of people use sign language, but most people around them do not. Everyday interactions (clinics, counters, classrooms) often need an interpreter who is not there.</a:t>
            </a:r>
            <a:endParaRPr lang="en-US" sz="1150" dirty="0"/>
          </a:p>
        </p:txBody>
      </p:sp>
      <p:sp>
        <p:nvSpPr>
          <p:cNvPr id="10" name="Shape 8"/>
          <p:cNvSpPr/>
          <p:nvPr/>
        </p:nvSpPr>
        <p:spPr>
          <a:xfrm>
            <a:off x="3246120" y="1371600"/>
            <a:ext cx="2651760" cy="2194560"/>
          </a:xfrm>
          <a:prstGeom prst="rect">
            <a:avLst/>
          </a:prstGeom>
          <a:solidFill>
            <a:srgbClr val="FFFFFF"/>
          </a:solidFill>
          <a:ln w="12700">
            <a:solidFill>
              <a:srgbClr val="DCE3EE"/>
            </a:solidFill>
            <a:prstDash val="solid"/>
          </a:ln>
        </p:spPr>
      </p:sp>
      <p:sp>
        <p:nvSpPr>
          <p:cNvPr id="11" name="Shape 9"/>
          <p:cNvSpPr/>
          <p:nvPr/>
        </p:nvSpPr>
        <p:spPr>
          <a:xfrm>
            <a:off x="3246120" y="1371600"/>
            <a:ext cx="64008" cy="2194560"/>
          </a:xfrm>
          <a:prstGeom prst="rect">
            <a:avLst/>
          </a:prstGeom>
          <a:solidFill>
            <a:srgbClr val="22C55E"/>
          </a:solidFill>
          <a:ln w="12700">
            <a:solidFill>
              <a:srgbClr val="22C55E"/>
            </a:solidFill>
            <a:prstDash val="solid"/>
          </a:ln>
        </p:spPr>
      </p:sp>
      <p:sp>
        <p:nvSpPr>
          <p:cNvPr id="12" name="Text 10"/>
          <p:cNvSpPr txBox="1"/>
          <p:nvPr/>
        </p:nvSpPr>
        <p:spPr>
          <a:xfrm>
            <a:off x="3429000" y="14630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A perfect Edge AI case</a:t>
            </a:r>
            <a:endParaRPr lang="en-US" sz="1400" dirty="0"/>
          </a:p>
        </p:txBody>
      </p:sp>
      <p:sp>
        <p:nvSpPr>
          <p:cNvPr id="13" name="Text 11"/>
          <p:cNvSpPr txBox="1"/>
          <p:nvPr/>
        </p:nvSpPr>
        <p:spPr>
          <a:xfrm>
            <a:off x="3429000" y="1783080"/>
            <a:ext cx="2377440" cy="17190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Video of a person is sensitive. If the AI runs on the device itself, nothing is uploaded, response is instant, and it works with no internet.</a:t>
            </a:r>
            <a:endParaRPr lang="en-US" sz="1150" dirty="0"/>
          </a:p>
        </p:txBody>
      </p:sp>
      <p:sp>
        <p:nvSpPr>
          <p:cNvPr id="14" name="Shape 12"/>
          <p:cNvSpPr/>
          <p:nvPr/>
        </p:nvSpPr>
        <p:spPr>
          <a:xfrm>
            <a:off x="5989320" y="1371600"/>
            <a:ext cx="2651760" cy="2194560"/>
          </a:xfrm>
          <a:prstGeom prst="rect">
            <a:avLst/>
          </a:prstGeom>
          <a:solidFill>
            <a:srgbClr val="FFFFFF"/>
          </a:solidFill>
          <a:ln w="12700">
            <a:solidFill>
              <a:srgbClr val="DCE3EE"/>
            </a:solidFill>
            <a:prstDash val="solid"/>
          </a:ln>
        </p:spPr>
      </p:sp>
      <p:sp>
        <p:nvSpPr>
          <p:cNvPr id="15" name="Shape 13"/>
          <p:cNvSpPr/>
          <p:nvPr/>
        </p:nvSpPr>
        <p:spPr>
          <a:xfrm>
            <a:off x="5989320" y="1371600"/>
            <a:ext cx="64008" cy="2194560"/>
          </a:xfrm>
          <a:prstGeom prst="rect">
            <a:avLst/>
          </a:prstGeom>
          <a:solidFill>
            <a:srgbClr val="F59E0B"/>
          </a:solidFill>
          <a:ln w="12700">
            <a:solidFill>
              <a:srgbClr val="F59E0B"/>
            </a:solidFill>
            <a:prstDash val="solid"/>
          </a:ln>
        </p:spPr>
      </p:sp>
      <p:sp>
        <p:nvSpPr>
          <p:cNvPr id="16" name="Text 14"/>
          <p:cNvSpPr txBox="1"/>
          <p:nvPr/>
        </p:nvSpPr>
        <p:spPr>
          <a:xfrm>
            <a:off x="6172200" y="14630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A good test for vibe coding</a:t>
            </a:r>
            <a:endParaRPr lang="en-US" sz="1400" dirty="0"/>
          </a:p>
        </p:txBody>
      </p:sp>
      <p:sp>
        <p:nvSpPr>
          <p:cNvPr id="17" name="Text 15"/>
          <p:cNvSpPr txBox="1"/>
          <p:nvPr/>
        </p:nvSpPr>
        <p:spPr>
          <a:xfrm>
            <a:off x="6172200" y="1783080"/>
            <a:ext cx="2377440" cy="17190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It touches vision, ML training, deployment and UI. That makes it a demanding, honest test of how far AI-assisted coding can go.</a:t>
            </a:r>
            <a:endParaRPr lang="en-US" sz="1150" dirty="0"/>
          </a:p>
        </p:txBody>
      </p:sp>
      <p:sp>
        <p:nvSpPr>
          <p:cNvPr id="18" name="Shape 16"/>
          <p:cNvSpPr/>
          <p:nvPr/>
        </p:nvSpPr>
        <p:spPr>
          <a:xfrm>
            <a:off x="502920" y="3794760"/>
            <a:ext cx="8138160" cy="731520"/>
          </a:xfrm>
          <a:prstGeom prst="rect">
            <a:avLst/>
          </a:prstGeom>
          <a:solidFill>
            <a:srgbClr val="0B1220"/>
          </a:solidFill>
          <a:ln w="12700">
            <a:solidFill>
              <a:srgbClr val="0B1220"/>
            </a:solidFill>
            <a:prstDash val="solid"/>
          </a:ln>
        </p:spPr>
      </p:sp>
      <p:sp>
        <p:nvSpPr>
          <p:cNvPr id="19" name="Text 17"/>
          <p:cNvSpPr txBox="1"/>
          <p:nvPr/>
        </p:nvSpPr>
        <p:spPr>
          <a:xfrm>
            <a:off x="731520" y="3794760"/>
            <a:ext cx="7680960" cy="731520"/>
          </a:xfrm>
          <a:prstGeom prst="rect">
            <a:avLst/>
          </a:prstGeom>
          <a:noFill/>
          <a:ln/>
        </p:spPr>
        <p:txBody>
          <a:bodyPr wrap="square" lIns="0" tIns="0" rIns="0" bIns="0" rtlCol="0" anchor="ctr"/>
          <a:lstStyle/>
          <a:p>
            <a:pPr marL="0" indent="0">
              <a:buNone/>
            </a:pPr>
            <a:r>
              <a:rPr lang="en-US" sz="1500" b="1" dirty="0">
                <a:solidFill>
                  <a:srgbClr val="FFFFFF"/>
                </a:solidFill>
              </a:rPr>
              <a:t>Goal: a working system that turns hand signs into spelled-out text, in real time, on an ordinary computer.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USE CASE</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What it does and where it helps</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3</a:t>
            </a:r>
            <a:endParaRPr lang="en-US" sz="1000" dirty="0"/>
          </a:p>
        </p:txBody>
      </p:sp>
      <p:sp>
        <p:nvSpPr>
          <p:cNvPr id="6" name="Shape 4"/>
          <p:cNvSpPr/>
          <p:nvPr/>
        </p:nvSpPr>
        <p:spPr>
          <a:xfrm>
            <a:off x="502920" y="1371600"/>
            <a:ext cx="4023360" cy="1280160"/>
          </a:xfrm>
          <a:prstGeom prst="rect">
            <a:avLst/>
          </a:prstGeom>
          <a:solidFill>
            <a:srgbClr val="FFFFFF"/>
          </a:solidFill>
          <a:ln w="12700">
            <a:solidFill>
              <a:srgbClr val="DCE3EE"/>
            </a:solidFill>
            <a:prstDash val="solid"/>
          </a:ln>
        </p:spPr>
      </p:sp>
      <p:sp>
        <p:nvSpPr>
          <p:cNvPr id="7" name="Shape 5"/>
          <p:cNvSpPr/>
          <p:nvPr/>
        </p:nvSpPr>
        <p:spPr>
          <a:xfrm>
            <a:off x="502920" y="1371600"/>
            <a:ext cx="64008" cy="1280160"/>
          </a:xfrm>
          <a:prstGeom prst="rect">
            <a:avLst/>
          </a:prstGeom>
          <a:solidFill>
            <a:srgbClr val="2F7BF6"/>
          </a:solidFill>
          <a:ln w="12700">
            <a:solidFill>
              <a:srgbClr val="2F7BF6"/>
            </a:solidFill>
            <a:prstDash val="solid"/>
          </a:ln>
        </p:spPr>
      </p:sp>
      <p:sp>
        <p:nvSpPr>
          <p:cNvPr id="8" name="Text 6"/>
          <p:cNvSpPr txBox="1"/>
          <p:nvPr/>
        </p:nvSpPr>
        <p:spPr>
          <a:xfrm>
            <a:off x="685800" y="1463040"/>
            <a:ext cx="3749040" cy="292608"/>
          </a:xfrm>
          <a:prstGeom prst="rect">
            <a:avLst/>
          </a:prstGeom>
          <a:noFill/>
          <a:ln/>
        </p:spPr>
        <p:txBody>
          <a:bodyPr wrap="square" lIns="0" tIns="0" rIns="0" bIns="0" rtlCol="0" anchor="t"/>
          <a:lstStyle/>
          <a:p>
            <a:pPr marL="0" indent="0">
              <a:buNone/>
            </a:pPr>
            <a:r>
              <a:rPr lang="en-US" sz="1400" b="1" dirty="0">
                <a:solidFill>
                  <a:srgbClr val="0B1220"/>
                </a:solidFill>
              </a:rPr>
              <a:t>Live letter recognition</a:t>
            </a:r>
            <a:endParaRPr lang="en-US" sz="1400" dirty="0"/>
          </a:p>
        </p:txBody>
      </p:sp>
      <p:sp>
        <p:nvSpPr>
          <p:cNvPr id="9" name="Text 7"/>
          <p:cNvSpPr txBox="1"/>
          <p:nvPr/>
        </p:nvSpPr>
        <p:spPr>
          <a:xfrm>
            <a:off x="685800" y="1783080"/>
            <a:ext cx="374904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Point a webcam at a hand; the app recognises the 26 letters A to Z of American Sign Language.</a:t>
            </a:r>
            <a:endParaRPr lang="en-US" sz="1150" dirty="0"/>
          </a:p>
        </p:txBody>
      </p:sp>
      <p:sp>
        <p:nvSpPr>
          <p:cNvPr id="10" name="Shape 8"/>
          <p:cNvSpPr/>
          <p:nvPr/>
        </p:nvSpPr>
        <p:spPr>
          <a:xfrm>
            <a:off x="4617720" y="1371600"/>
            <a:ext cx="4023360" cy="1280160"/>
          </a:xfrm>
          <a:prstGeom prst="rect">
            <a:avLst/>
          </a:prstGeom>
          <a:solidFill>
            <a:srgbClr val="FFFFFF"/>
          </a:solidFill>
          <a:ln w="12700">
            <a:solidFill>
              <a:srgbClr val="DCE3EE"/>
            </a:solidFill>
            <a:prstDash val="solid"/>
          </a:ln>
        </p:spPr>
      </p:sp>
      <p:sp>
        <p:nvSpPr>
          <p:cNvPr id="11" name="Shape 9"/>
          <p:cNvSpPr/>
          <p:nvPr/>
        </p:nvSpPr>
        <p:spPr>
          <a:xfrm>
            <a:off x="4617720" y="1371600"/>
            <a:ext cx="64008" cy="1280160"/>
          </a:xfrm>
          <a:prstGeom prst="rect">
            <a:avLst/>
          </a:prstGeom>
          <a:solidFill>
            <a:srgbClr val="22C55E"/>
          </a:solidFill>
          <a:ln w="12700">
            <a:solidFill>
              <a:srgbClr val="22C55E"/>
            </a:solidFill>
            <a:prstDash val="solid"/>
          </a:ln>
        </p:spPr>
      </p:sp>
      <p:sp>
        <p:nvSpPr>
          <p:cNvPr id="12" name="Text 10"/>
          <p:cNvSpPr txBox="1"/>
          <p:nvPr/>
        </p:nvSpPr>
        <p:spPr>
          <a:xfrm>
            <a:off x="4800600" y="1463040"/>
            <a:ext cx="3749040" cy="292608"/>
          </a:xfrm>
          <a:prstGeom prst="rect">
            <a:avLst/>
          </a:prstGeom>
          <a:noFill/>
          <a:ln/>
        </p:spPr>
        <p:txBody>
          <a:bodyPr wrap="square" lIns="0" tIns="0" rIns="0" bIns="0" rtlCol="0" anchor="t"/>
          <a:lstStyle/>
          <a:p>
            <a:pPr marL="0" indent="0">
              <a:buNone/>
            </a:pPr>
            <a:r>
              <a:rPr lang="en-US" sz="1400" b="1" dirty="0">
                <a:solidFill>
                  <a:srgbClr val="0B1220"/>
                </a:solidFill>
              </a:rPr>
              <a:t>Spelling into words</a:t>
            </a:r>
            <a:endParaRPr lang="en-US" sz="1400" dirty="0"/>
          </a:p>
        </p:txBody>
      </p:sp>
      <p:sp>
        <p:nvSpPr>
          <p:cNvPr id="13" name="Text 11"/>
          <p:cNvSpPr txBox="1"/>
          <p:nvPr/>
        </p:nvSpPr>
        <p:spPr>
          <a:xfrm>
            <a:off x="4800600" y="1783080"/>
            <a:ext cx="374904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A letter is added after it is held steady for 10 frames with enough confidence. Letters build up into words on screen.</a:t>
            </a:r>
            <a:endParaRPr lang="en-US" sz="1150" dirty="0"/>
          </a:p>
        </p:txBody>
      </p:sp>
      <p:sp>
        <p:nvSpPr>
          <p:cNvPr id="14" name="Shape 12"/>
          <p:cNvSpPr/>
          <p:nvPr/>
        </p:nvSpPr>
        <p:spPr>
          <a:xfrm>
            <a:off x="502920" y="2788920"/>
            <a:ext cx="4023360" cy="1280160"/>
          </a:xfrm>
          <a:prstGeom prst="rect">
            <a:avLst/>
          </a:prstGeom>
          <a:solidFill>
            <a:srgbClr val="FFFFFF"/>
          </a:solidFill>
          <a:ln w="12700">
            <a:solidFill>
              <a:srgbClr val="DCE3EE"/>
            </a:solidFill>
            <a:prstDash val="solid"/>
          </a:ln>
        </p:spPr>
      </p:sp>
      <p:sp>
        <p:nvSpPr>
          <p:cNvPr id="15" name="Shape 13"/>
          <p:cNvSpPr/>
          <p:nvPr/>
        </p:nvSpPr>
        <p:spPr>
          <a:xfrm>
            <a:off x="502920" y="2788920"/>
            <a:ext cx="64008" cy="1280160"/>
          </a:xfrm>
          <a:prstGeom prst="rect">
            <a:avLst/>
          </a:prstGeom>
          <a:solidFill>
            <a:srgbClr val="F59E0B"/>
          </a:solidFill>
          <a:ln w="12700">
            <a:solidFill>
              <a:srgbClr val="F59E0B"/>
            </a:solidFill>
            <a:prstDash val="solid"/>
          </a:ln>
        </p:spPr>
      </p:sp>
      <p:sp>
        <p:nvSpPr>
          <p:cNvPr id="16" name="Text 14"/>
          <p:cNvSpPr txBox="1"/>
          <p:nvPr/>
        </p:nvSpPr>
        <p:spPr>
          <a:xfrm>
            <a:off x="685800" y="2880360"/>
            <a:ext cx="3749040" cy="292608"/>
          </a:xfrm>
          <a:prstGeom prst="rect">
            <a:avLst/>
          </a:prstGeom>
          <a:noFill/>
          <a:ln/>
        </p:spPr>
        <p:txBody>
          <a:bodyPr wrap="square" lIns="0" tIns="0" rIns="0" bIns="0" rtlCol="0" anchor="t"/>
          <a:lstStyle/>
          <a:p>
            <a:pPr marL="0" indent="0">
              <a:buNone/>
            </a:pPr>
            <a:r>
              <a:rPr lang="en-US" sz="1400" b="1" dirty="0">
                <a:solidFill>
                  <a:srgbClr val="0B1220"/>
                </a:solidFill>
              </a:rPr>
              <a:t>Handles J and Z</a:t>
            </a:r>
            <a:endParaRPr lang="en-US" sz="1400" dirty="0"/>
          </a:p>
        </p:txBody>
      </p:sp>
      <p:sp>
        <p:nvSpPr>
          <p:cNvPr id="17" name="Text 15"/>
          <p:cNvSpPr txBox="1"/>
          <p:nvPr/>
        </p:nvSpPr>
        <p:spPr>
          <a:xfrm>
            <a:off x="685800" y="3200400"/>
            <a:ext cx="374904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These two letters are movements, so a motion tracker checks the last 1.5 seconds of hand path (hook for J, zigzag for Z).</a:t>
            </a:r>
            <a:endParaRPr lang="en-US" sz="1150" dirty="0"/>
          </a:p>
        </p:txBody>
      </p:sp>
      <p:sp>
        <p:nvSpPr>
          <p:cNvPr id="18" name="Shape 16"/>
          <p:cNvSpPr/>
          <p:nvPr/>
        </p:nvSpPr>
        <p:spPr>
          <a:xfrm>
            <a:off x="4617720" y="2788920"/>
            <a:ext cx="4023360" cy="1280160"/>
          </a:xfrm>
          <a:prstGeom prst="rect">
            <a:avLst/>
          </a:prstGeom>
          <a:solidFill>
            <a:srgbClr val="FFFFFF"/>
          </a:solidFill>
          <a:ln w="12700">
            <a:solidFill>
              <a:srgbClr val="DCE3EE"/>
            </a:solidFill>
            <a:prstDash val="solid"/>
          </a:ln>
        </p:spPr>
      </p:sp>
      <p:sp>
        <p:nvSpPr>
          <p:cNvPr id="19" name="Shape 17"/>
          <p:cNvSpPr/>
          <p:nvPr/>
        </p:nvSpPr>
        <p:spPr>
          <a:xfrm>
            <a:off x="4617720" y="2788920"/>
            <a:ext cx="64008" cy="1280160"/>
          </a:xfrm>
          <a:prstGeom prst="rect">
            <a:avLst/>
          </a:prstGeom>
          <a:solidFill>
            <a:srgbClr val="2F7BF6"/>
          </a:solidFill>
          <a:ln w="12700">
            <a:solidFill>
              <a:srgbClr val="2F7BF6"/>
            </a:solidFill>
            <a:prstDash val="solid"/>
          </a:ln>
        </p:spPr>
      </p:sp>
      <p:sp>
        <p:nvSpPr>
          <p:cNvPr id="20" name="Text 18"/>
          <p:cNvSpPr txBox="1"/>
          <p:nvPr/>
        </p:nvSpPr>
        <p:spPr>
          <a:xfrm>
            <a:off x="4800600" y="2880360"/>
            <a:ext cx="3749040" cy="292608"/>
          </a:xfrm>
          <a:prstGeom prst="rect">
            <a:avLst/>
          </a:prstGeom>
          <a:noFill/>
          <a:ln/>
        </p:spPr>
        <p:txBody>
          <a:bodyPr wrap="square" lIns="0" tIns="0" rIns="0" bIns="0" rtlCol="0" anchor="t"/>
          <a:lstStyle/>
          <a:p>
            <a:pPr marL="0" indent="0">
              <a:buNone/>
            </a:pPr>
            <a:r>
              <a:rPr lang="en-US" sz="1400" b="1" dirty="0">
                <a:solidFill>
                  <a:srgbClr val="0B1220"/>
                </a:solidFill>
              </a:rPr>
              <a:t>Transparent interface</a:t>
            </a:r>
            <a:endParaRPr lang="en-US" sz="1400" dirty="0"/>
          </a:p>
        </p:txBody>
      </p:sp>
      <p:sp>
        <p:nvSpPr>
          <p:cNvPr id="21" name="Text 19"/>
          <p:cNvSpPr txBox="1"/>
          <p:nvPr/>
        </p:nvSpPr>
        <p:spPr>
          <a:xfrm>
            <a:off x="4800600" y="3200400"/>
            <a:ext cx="374904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One window shows camera, the skeleton the AI sees, its top 3 guesses, and the word buffer. Built to explain the AI, not hide it.</a:t>
            </a:r>
            <a:endParaRPr lang="en-US" sz="1150" dirty="0"/>
          </a:p>
        </p:txBody>
      </p:sp>
      <p:sp>
        <p:nvSpPr>
          <p:cNvPr id="22" name="Text 20"/>
          <p:cNvSpPr txBox="1"/>
          <p:nvPr/>
        </p:nvSpPr>
        <p:spPr>
          <a:xfrm>
            <a:off x="502920" y="4297680"/>
            <a:ext cx="8138160" cy="457200"/>
          </a:xfrm>
          <a:prstGeom prst="rect">
            <a:avLst/>
          </a:prstGeom>
          <a:noFill/>
          <a:ln/>
        </p:spPr>
        <p:txBody>
          <a:bodyPr wrap="square" lIns="0" tIns="0" rIns="0" bIns="0" rtlCol="0" anchor="ctr"/>
          <a:lstStyle/>
          <a:p>
            <a:pPr marL="0" indent="0">
              <a:buNone/>
            </a:pPr>
            <a:r>
              <a:rPr lang="en-US" sz="1300" i="1" dirty="0">
                <a:solidFill>
                  <a:srgbClr val="5B6B82"/>
                </a:solidFill>
              </a:rPr>
              <a:t>Use cases: accessibility tools, ASL learning and practice, kiosks and help desks, a base for full sign-language translation.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PIPELINE</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How it works: four steps from camera to letter</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4</a:t>
            </a:r>
            <a:endParaRPr lang="en-US" sz="1000" dirty="0"/>
          </a:p>
        </p:txBody>
      </p:sp>
      <p:pic>
        <p:nvPicPr>
          <p:cNvPr id="6" name="Image 0" descr="/home/claude/assets/pipeline.png"/>
          <p:cNvPicPr>
            <a:picLocks noChangeAspect="1"/>
          </p:cNvPicPr>
          <p:nvPr/>
        </p:nvPicPr>
        <p:blipFill>
          <a:blip r:embed="rId3"/>
          <a:stretch>
            <a:fillRect/>
          </a:stretch>
        </p:blipFill>
        <p:spPr>
          <a:xfrm>
            <a:off x="502920" y="1325880"/>
            <a:ext cx="8138160" cy="1858213"/>
          </a:xfrm>
          <a:prstGeom prst="rect">
            <a:avLst/>
          </a:prstGeom>
        </p:spPr>
      </p:pic>
      <p:sp>
        <p:nvSpPr>
          <p:cNvPr id="7" name="Shape 4"/>
          <p:cNvSpPr/>
          <p:nvPr/>
        </p:nvSpPr>
        <p:spPr>
          <a:xfrm>
            <a:off x="502920" y="3337560"/>
            <a:ext cx="3977640" cy="1280160"/>
          </a:xfrm>
          <a:prstGeom prst="rect">
            <a:avLst/>
          </a:prstGeom>
          <a:solidFill>
            <a:srgbClr val="FFFFFF"/>
          </a:solidFill>
          <a:ln w="12700">
            <a:solidFill>
              <a:srgbClr val="DCE3EE"/>
            </a:solidFill>
            <a:prstDash val="solid"/>
          </a:ln>
        </p:spPr>
      </p:sp>
      <p:sp>
        <p:nvSpPr>
          <p:cNvPr id="8" name="Shape 5"/>
          <p:cNvSpPr/>
          <p:nvPr/>
        </p:nvSpPr>
        <p:spPr>
          <a:xfrm>
            <a:off x="502920" y="3337560"/>
            <a:ext cx="64008" cy="1280160"/>
          </a:xfrm>
          <a:prstGeom prst="rect">
            <a:avLst/>
          </a:prstGeom>
          <a:solidFill>
            <a:srgbClr val="2F7BF6"/>
          </a:solidFill>
          <a:ln w="12700">
            <a:solidFill>
              <a:srgbClr val="2F7BF6"/>
            </a:solidFill>
            <a:prstDash val="solid"/>
          </a:ln>
        </p:spPr>
      </p:sp>
      <p:sp>
        <p:nvSpPr>
          <p:cNvPr id="9" name="Text 6"/>
          <p:cNvSpPr txBox="1"/>
          <p:nvPr/>
        </p:nvSpPr>
        <p:spPr>
          <a:xfrm>
            <a:off x="685800" y="3429000"/>
            <a:ext cx="3703320" cy="292608"/>
          </a:xfrm>
          <a:prstGeom prst="rect">
            <a:avLst/>
          </a:prstGeom>
          <a:noFill/>
          <a:ln/>
        </p:spPr>
        <p:txBody>
          <a:bodyPr wrap="square" lIns="0" tIns="0" rIns="0" bIns="0" rtlCol="0" anchor="t"/>
          <a:lstStyle/>
          <a:p>
            <a:pPr marL="0" indent="0">
              <a:buNone/>
            </a:pPr>
            <a:r>
              <a:rPr lang="en-US" sz="1400" b="1" dirty="0">
                <a:solidFill>
                  <a:srgbClr val="0B1220"/>
                </a:solidFill>
              </a:rPr>
              <a:t>Why a skeleton, not a photo?</a:t>
            </a:r>
            <a:endParaRPr lang="en-US" sz="1400" dirty="0"/>
          </a:p>
        </p:txBody>
      </p:sp>
      <p:sp>
        <p:nvSpPr>
          <p:cNvPr id="10" name="Text 7"/>
          <p:cNvSpPr txBox="1"/>
          <p:nvPr/>
        </p:nvSpPr>
        <p:spPr>
          <a:xfrm>
            <a:off x="685800" y="3749040"/>
            <a:ext cx="370332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The AI never sees the camera image. Lighting, background, clothing and skin tone are removed, leaving only hand geometry.</a:t>
            </a:r>
            <a:endParaRPr lang="en-US" sz="1150" dirty="0"/>
          </a:p>
        </p:txBody>
      </p:sp>
      <p:sp>
        <p:nvSpPr>
          <p:cNvPr id="11" name="Shape 8"/>
          <p:cNvSpPr/>
          <p:nvPr/>
        </p:nvSpPr>
        <p:spPr>
          <a:xfrm>
            <a:off x="4663440" y="3337560"/>
            <a:ext cx="3977640" cy="1280160"/>
          </a:xfrm>
          <a:prstGeom prst="rect">
            <a:avLst/>
          </a:prstGeom>
          <a:solidFill>
            <a:srgbClr val="FFFFFF"/>
          </a:solidFill>
          <a:ln w="12700">
            <a:solidFill>
              <a:srgbClr val="DCE3EE"/>
            </a:solidFill>
            <a:prstDash val="solid"/>
          </a:ln>
        </p:spPr>
      </p:sp>
      <p:sp>
        <p:nvSpPr>
          <p:cNvPr id="12" name="Shape 9"/>
          <p:cNvSpPr/>
          <p:nvPr/>
        </p:nvSpPr>
        <p:spPr>
          <a:xfrm>
            <a:off x="4663440" y="3337560"/>
            <a:ext cx="64008" cy="1280160"/>
          </a:xfrm>
          <a:prstGeom prst="rect">
            <a:avLst/>
          </a:prstGeom>
          <a:solidFill>
            <a:srgbClr val="22C55E"/>
          </a:solidFill>
          <a:ln w="12700">
            <a:solidFill>
              <a:srgbClr val="22C55E"/>
            </a:solidFill>
            <a:prstDash val="solid"/>
          </a:ln>
        </p:spPr>
      </p:sp>
      <p:sp>
        <p:nvSpPr>
          <p:cNvPr id="13" name="Text 10"/>
          <p:cNvSpPr txBox="1"/>
          <p:nvPr/>
        </p:nvSpPr>
        <p:spPr>
          <a:xfrm>
            <a:off x="4846320" y="3429000"/>
            <a:ext cx="3703320" cy="292608"/>
          </a:xfrm>
          <a:prstGeom prst="rect">
            <a:avLst/>
          </a:prstGeom>
          <a:noFill/>
          <a:ln/>
        </p:spPr>
        <p:txBody>
          <a:bodyPr wrap="square" lIns="0" tIns="0" rIns="0" bIns="0" rtlCol="0" anchor="t"/>
          <a:lstStyle/>
          <a:p>
            <a:pPr marL="0" indent="0">
              <a:buNone/>
            </a:pPr>
            <a:r>
              <a:rPr lang="en-US" sz="1400" b="1" dirty="0">
                <a:solidFill>
                  <a:srgbClr val="0B1220"/>
                </a:solidFill>
              </a:rPr>
              <a:t>Smoothing for stability</a:t>
            </a:r>
            <a:endParaRPr lang="en-US" sz="1400" dirty="0"/>
          </a:p>
        </p:txBody>
      </p:sp>
      <p:sp>
        <p:nvSpPr>
          <p:cNvPr id="14" name="Text 11"/>
          <p:cNvSpPr txBox="1"/>
          <p:nvPr/>
        </p:nvSpPr>
        <p:spPr>
          <a:xfrm>
            <a:off x="4846320" y="3749040"/>
            <a:ext cx="370332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A 1-euro filter calms landmark jitter: heavy smoothing when still, light when moving, so there is no lag during real gestures.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TECH STACK</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Technologies used</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5</a:t>
            </a:r>
            <a:endParaRPr lang="en-US" sz="1000" dirty="0"/>
          </a:p>
        </p:txBody>
      </p:sp>
      <p:sp>
        <p:nvSpPr>
          <p:cNvPr id="6" name="Shape 4"/>
          <p:cNvSpPr/>
          <p:nvPr/>
        </p:nvSpPr>
        <p:spPr>
          <a:xfrm>
            <a:off x="502920" y="1371600"/>
            <a:ext cx="2651760" cy="1371600"/>
          </a:xfrm>
          <a:prstGeom prst="rect">
            <a:avLst/>
          </a:prstGeom>
          <a:solidFill>
            <a:srgbClr val="FFFFFF"/>
          </a:solidFill>
          <a:ln w="12700">
            <a:solidFill>
              <a:srgbClr val="DCE3EE"/>
            </a:solidFill>
            <a:prstDash val="solid"/>
          </a:ln>
        </p:spPr>
      </p:sp>
      <p:sp>
        <p:nvSpPr>
          <p:cNvPr id="7" name="Shape 5"/>
          <p:cNvSpPr/>
          <p:nvPr/>
        </p:nvSpPr>
        <p:spPr>
          <a:xfrm>
            <a:off x="502920" y="1371600"/>
            <a:ext cx="64008" cy="1371600"/>
          </a:xfrm>
          <a:prstGeom prst="rect">
            <a:avLst/>
          </a:prstGeom>
          <a:solidFill>
            <a:srgbClr val="2F7BF6"/>
          </a:solidFill>
          <a:ln w="12700">
            <a:solidFill>
              <a:srgbClr val="2F7BF6"/>
            </a:solidFill>
            <a:prstDash val="solid"/>
          </a:ln>
        </p:spPr>
      </p:sp>
      <p:sp>
        <p:nvSpPr>
          <p:cNvPr id="8" name="Text 6"/>
          <p:cNvSpPr txBox="1"/>
          <p:nvPr/>
        </p:nvSpPr>
        <p:spPr>
          <a:xfrm>
            <a:off x="685800" y="14630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MediaPipe Hands</a:t>
            </a:r>
            <a:endParaRPr lang="en-US" sz="1400" dirty="0"/>
          </a:p>
        </p:txBody>
      </p:sp>
      <p:sp>
        <p:nvSpPr>
          <p:cNvPr id="9" name="Text 7"/>
          <p:cNvSpPr txBox="1"/>
          <p:nvPr/>
        </p:nvSpPr>
        <p:spPr>
          <a:xfrm>
            <a:off x="685800" y="1783080"/>
            <a:ext cx="2377440" cy="89611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Finds 21 hand landmarks per frame. Fast, runs on CPU.</a:t>
            </a:r>
            <a:endParaRPr lang="en-US" sz="1200" dirty="0"/>
          </a:p>
        </p:txBody>
      </p:sp>
      <p:sp>
        <p:nvSpPr>
          <p:cNvPr id="10" name="Shape 8"/>
          <p:cNvSpPr/>
          <p:nvPr/>
        </p:nvSpPr>
        <p:spPr>
          <a:xfrm>
            <a:off x="3246120" y="1371600"/>
            <a:ext cx="2651760" cy="1371600"/>
          </a:xfrm>
          <a:prstGeom prst="rect">
            <a:avLst/>
          </a:prstGeom>
          <a:solidFill>
            <a:srgbClr val="FFFFFF"/>
          </a:solidFill>
          <a:ln w="12700">
            <a:solidFill>
              <a:srgbClr val="DCE3EE"/>
            </a:solidFill>
            <a:prstDash val="solid"/>
          </a:ln>
        </p:spPr>
      </p:sp>
      <p:sp>
        <p:nvSpPr>
          <p:cNvPr id="11" name="Shape 9"/>
          <p:cNvSpPr/>
          <p:nvPr/>
        </p:nvSpPr>
        <p:spPr>
          <a:xfrm>
            <a:off x="3246120" y="1371600"/>
            <a:ext cx="64008" cy="1371600"/>
          </a:xfrm>
          <a:prstGeom prst="rect">
            <a:avLst/>
          </a:prstGeom>
          <a:solidFill>
            <a:srgbClr val="F59E0B"/>
          </a:solidFill>
          <a:ln w="12700">
            <a:solidFill>
              <a:srgbClr val="F59E0B"/>
            </a:solidFill>
            <a:prstDash val="solid"/>
          </a:ln>
        </p:spPr>
      </p:sp>
      <p:sp>
        <p:nvSpPr>
          <p:cNvPr id="12" name="Text 10"/>
          <p:cNvSpPr txBox="1"/>
          <p:nvPr/>
        </p:nvSpPr>
        <p:spPr>
          <a:xfrm>
            <a:off x="3429000" y="14630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TensorFlow / Keras</a:t>
            </a:r>
            <a:endParaRPr lang="en-US" sz="1400" dirty="0"/>
          </a:p>
        </p:txBody>
      </p:sp>
      <p:sp>
        <p:nvSpPr>
          <p:cNvPr id="13" name="Text 11"/>
          <p:cNvSpPr txBox="1"/>
          <p:nvPr/>
        </p:nvSpPr>
        <p:spPr>
          <a:xfrm>
            <a:off x="3429000" y="1783080"/>
            <a:ext cx="2377440" cy="89611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Used to train our custom CNN from scratch on GPU (RTX 3050).</a:t>
            </a:r>
            <a:endParaRPr lang="en-US" sz="1200" dirty="0"/>
          </a:p>
        </p:txBody>
      </p:sp>
      <p:sp>
        <p:nvSpPr>
          <p:cNvPr id="14" name="Shape 12"/>
          <p:cNvSpPr/>
          <p:nvPr/>
        </p:nvSpPr>
        <p:spPr>
          <a:xfrm>
            <a:off x="5989320" y="1371600"/>
            <a:ext cx="2651760" cy="1371600"/>
          </a:xfrm>
          <a:prstGeom prst="rect">
            <a:avLst/>
          </a:prstGeom>
          <a:solidFill>
            <a:srgbClr val="FFFFFF"/>
          </a:solidFill>
          <a:ln w="12700">
            <a:solidFill>
              <a:srgbClr val="DCE3EE"/>
            </a:solidFill>
            <a:prstDash val="solid"/>
          </a:ln>
        </p:spPr>
      </p:sp>
      <p:sp>
        <p:nvSpPr>
          <p:cNvPr id="15" name="Shape 13"/>
          <p:cNvSpPr/>
          <p:nvPr/>
        </p:nvSpPr>
        <p:spPr>
          <a:xfrm>
            <a:off x="5989320" y="1371600"/>
            <a:ext cx="64008" cy="1371600"/>
          </a:xfrm>
          <a:prstGeom prst="rect">
            <a:avLst/>
          </a:prstGeom>
          <a:solidFill>
            <a:srgbClr val="22C55E"/>
          </a:solidFill>
          <a:ln w="12700">
            <a:solidFill>
              <a:srgbClr val="22C55E"/>
            </a:solidFill>
            <a:prstDash val="solid"/>
          </a:ln>
        </p:spPr>
      </p:sp>
      <p:sp>
        <p:nvSpPr>
          <p:cNvPr id="16" name="Text 14"/>
          <p:cNvSpPr txBox="1"/>
          <p:nvPr/>
        </p:nvSpPr>
        <p:spPr>
          <a:xfrm>
            <a:off x="6172200" y="14630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ONNX + ONNX Runtime</a:t>
            </a:r>
            <a:endParaRPr lang="en-US" sz="1400" dirty="0"/>
          </a:p>
        </p:txBody>
      </p:sp>
      <p:sp>
        <p:nvSpPr>
          <p:cNvPr id="17" name="Text 15"/>
          <p:cNvSpPr txBox="1"/>
          <p:nvPr/>
        </p:nvSpPr>
        <p:spPr>
          <a:xfrm>
            <a:off x="6172200" y="1783080"/>
            <a:ext cx="2377440" cy="89611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Trained model exported to ONNX; runs real-time on CPU, no GPU or TensorFlow needed.</a:t>
            </a:r>
            <a:endParaRPr lang="en-US" sz="1200" dirty="0"/>
          </a:p>
        </p:txBody>
      </p:sp>
      <p:sp>
        <p:nvSpPr>
          <p:cNvPr id="18" name="Shape 16"/>
          <p:cNvSpPr/>
          <p:nvPr/>
        </p:nvSpPr>
        <p:spPr>
          <a:xfrm>
            <a:off x="502920" y="2880360"/>
            <a:ext cx="2651760" cy="1371600"/>
          </a:xfrm>
          <a:prstGeom prst="rect">
            <a:avLst/>
          </a:prstGeom>
          <a:solidFill>
            <a:srgbClr val="FFFFFF"/>
          </a:solidFill>
          <a:ln w="12700">
            <a:solidFill>
              <a:srgbClr val="DCE3EE"/>
            </a:solidFill>
            <a:prstDash val="solid"/>
          </a:ln>
        </p:spPr>
      </p:sp>
      <p:sp>
        <p:nvSpPr>
          <p:cNvPr id="19" name="Shape 17"/>
          <p:cNvSpPr/>
          <p:nvPr/>
        </p:nvSpPr>
        <p:spPr>
          <a:xfrm>
            <a:off x="502920" y="2880360"/>
            <a:ext cx="64008" cy="1371600"/>
          </a:xfrm>
          <a:prstGeom prst="rect">
            <a:avLst/>
          </a:prstGeom>
          <a:solidFill>
            <a:srgbClr val="2F7BF6"/>
          </a:solidFill>
          <a:ln w="12700">
            <a:solidFill>
              <a:srgbClr val="2F7BF6"/>
            </a:solidFill>
            <a:prstDash val="solid"/>
          </a:ln>
        </p:spPr>
      </p:sp>
      <p:sp>
        <p:nvSpPr>
          <p:cNvPr id="20" name="Text 18"/>
          <p:cNvSpPr txBox="1"/>
          <p:nvPr/>
        </p:nvSpPr>
        <p:spPr>
          <a:xfrm>
            <a:off x="685800" y="297180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OpenCV + NumPy</a:t>
            </a:r>
            <a:endParaRPr lang="en-US" sz="1400" dirty="0"/>
          </a:p>
        </p:txBody>
      </p:sp>
      <p:sp>
        <p:nvSpPr>
          <p:cNvPr id="21" name="Text 19"/>
          <p:cNvSpPr txBox="1"/>
          <p:nvPr/>
        </p:nvSpPr>
        <p:spPr>
          <a:xfrm>
            <a:off x="685800" y="3291840"/>
            <a:ext cx="2377440" cy="89611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Webcam capture, skeleton drawing, and the single-window UI.</a:t>
            </a:r>
            <a:endParaRPr lang="en-US" sz="1200" dirty="0"/>
          </a:p>
        </p:txBody>
      </p:sp>
      <p:sp>
        <p:nvSpPr>
          <p:cNvPr id="22" name="Shape 20"/>
          <p:cNvSpPr/>
          <p:nvPr/>
        </p:nvSpPr>
        <p:spPr>
          <a:xfrm>
            <a:off x="3246120" y="2880360"/>
            <a:ext cx="2651760" cy="1371600"/>
          </a:xfrm>
          <a:prstGeom prst="rect">
            <a:avLst/>
          </a:prstGeom>
          <a:solidFill>
            <a:srgbClr val="FFFFFF"/>
          </a:solidFill>
          <a:ln w="12700">
            <a:solidFill>
              <a:srgbClr val="DCE3EE"/>
            </a:solidFill>
            <a:prstDash val="solid"/>
          </a:ln>
        </p:spPr>
      </p:sp>
      <p:sp>
        <p:nvSpPr>
          <p:cNvPr id="23" name="Shape 21"/>
          <p:cNvSpPr/>
          <p:nvPr/>
        </p:nvSpPr>
        <p:spPr>
          <a:xfrm>
            <a:off x="3246120" y="2880360"/>
            <a:ext cx="64008" cy="1371600"/>
          </a:xfrm>
          <a:prstGeom prst="rect">
            <a:avLst/>
          </a:prstGeom>
          <a:solidFill>
            <a:srgbClr val="F59E0B"/>
          </a:solidFill>
          <a:ln w="12700">
            <a:solidFill>
              <a:srgbClr val="F59E0B"/>
            </a:solidFill>
            <a:prstDash val="solid"/>
          </a:ln>
        </p:spPr>
      </p:sp>
      <p:sp>
        <p:nvSpPr>
          <p:cNvPr id="24" name="Text 22"/>
          <p:cNvSpPr txBox="1"/>
          <p:nvPr/>
        </p:nvSpPr>
        <p:spPr>
          <a:xfrm>
            <a:off x="3429000" y="297180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Python 3.11 / 3.12</a:t>
            </a:r>
            <a:endParaRPr lang="en-US" sz="1400" dirty="0"/>
          </a:p>
        </p:txBody>
      </p:sp>
      <p:sp>
        <p:nvSpPr>
          <p:cNvPr id="25" name="Text 23"/>
          <p:cNvSpPr txBox="1"/>
          <p:nvPr/>
        </p:nvSpPr>
        <p:spPr>
          <a:xfrm>
            <a:off x="3429000" y="3291840"/>
            <a:ext cx="2377440" cy="89611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Two separate environments: training and live inference.</a:t>
            </a:r>
            <a:endParaRPr lang="en-US" sz="1200" dirty="0"/>
          </a:p>
        </p:txBody>
      </p:sp>
      <p:sp>
        <p:nvSpPr>
          <p:cNvPr id="26" name="Shape 24"/>
          <p:cNvSpPr/>
          <p:nvPr/>
        </p:nvSpPr>
        <p:spPr>
          <a:xfrm>
            <a:off x="5989320" y="2880360"/>
            <a:ext cx="2651760" cy="1371600"/>
          </a:xfrm>
          <a:prstGeom prst="rect">
            <a:avLst/>
          </a:prstGeom>
          <a:solidFill>
            <a:srgbClr val="FFFFFF"/>
          </a:solidFill>
          <a:ln w="12700">
            <a:solidFill>
              <a:srgbClr val="DCE3EE"/>
            </a:solidFill>
            <a:prstDash val="solid"/>
          </a:ln>
        </p:spPr>
      </p:sp>
      <p:sp>
        <p:nvSpPr>
          <p:cNvPr id="27" name="Shape 25"/>
          <p:cNvSpPr/>
          <p:nvPr/>
        </p:nvSpPr>
        <p:spPr>
          <a:xfrm>
            <a:off x="5989320" y="2880360"/>
            <a:ext cx="64008" cy="1371600"/>
          </a:xfrm>
          <a:prstGeom prst="rect">
            <a:avLst/>
          </a:prstGeom>
          <a:solidFill>
            <a:srgbClr val="22C55E"/>
          </a:solidFill>
          <a:ln w="12700">
            <a:solidFill>
              <a:srgbClr val="22C55E"/>
            </a:solidFill>
            <a:prstDash val="solid"/>
          </a:ln>
        </p:spPr>
      </p:sp>
      <p:sp>
        <p:nvSpPr>
          <p:cNvPr id="28" name="Text 26"/>
          <p:cNvSpPr txBox="1"/>
          <p:nvPr/>
        </p:nvSpPr>
        <p:spPr>
          <a:xfrm>
            <a:off x="6172200" y="297180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Kaggle datasets</a:t>
            </a:r>
            <a:endParaRPr lang="en-US" sz="1400" dirty="0"/>
          </a:p>
        </p:txBody>
      </p:sp>
      <p:sp>
        <p:nvSpPr>
          <p:cNvPr id="29" name="Text 27"/>
          <p:cNvSpPr txBox="1"/>
          <p:nvPr/>
        </p:nvSpPr>
        <p:spPr>
          <a:xfrm>
            <a:off x="6172200" y="3291840"/>
            <a:ext cx="2377440" cy="89611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3 public ASL datasets, about 67,000 landmark samples.</a:t>
            </a:r>
            <a:endParaRPr lang="en-US" sz="1200" dirty="0"/>
          </a:p>
        </p:txBody>
      </p:sp>
      <p:sp>
        <p:nvSpPr>
          <p:cNvPr id="30" name="Text 28"/>
          <p:cNvSpPr txBox="1"/>
          <p:nvPr/>
        </p:nvSpPr>
        <p:spPr>
          <a:xfrm>
            <a:off x="502920" y="4434840"/>
            <a:ext cx="8138160" cy="320040"/>
          </a:xfrm>
          <a:prstGeom prst="rect">
            <a:avLst/>
          </a:prstGeom>
          <a:noFill/>
          <a:ln/>
        </p:spPr>
        <p:txBody>
          <a:bodyPr wrap="square" lIns="0" tIns="0" rIns="0" bIns="0" rtlCol="0" anchor="ctr"/>
          <a:lstStyle/>
          <a:p>
            <a:pPr marL="0" indent="0">
              <a:buNone/>
            </a:pPr>
            <a:r>
              <a:rPr lang="en-US" sz="1300" b="1" dirty="0">
                <a:solidFill>
                  <a:srgbClr val="2F7BF6"/>
                </a:solidFill>
              </a:rPr>
              <a:t>Edge AI in one line: the whole model is about 1.2 MB with 308,602 parameters, and runs on a normal CPU.</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AI MODEL</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The model: a compact CNN built for the edge</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6</a:t>
            </a:r>
            <a:endParaRPr lang="en-US" sz="1000" dirty="0"/>
          </a:p>
        </p:txBody>
      </p:sp>
      <p:pic>
        <p:nvPicPr>
          <p:cNvPr id="6" name="Image 0" descr="/home/claude/assets/architecture.png"/>
          <p:cNvPicPr>
            <a:picLocks noChangeAspect="1"/>
          </p:cNvPicPr>
          <p:nvPr/>
        </p:nvPicPr>
        <p:blipFill>
          <a:blip r:embed="rId3"/>
          <a:stretch>
            <a:fillRect/>
          </a:stretch>
        </p:blipFill>
        <p:spPr>
          <a:xfrm>
            <a:off x="502920" y="1325880"/>
            <a:ext cx="8138160" cy="1948637"/>
          </a:xfrm>
          <a:prstGeom prst="rect">
            <a:avLst/>
          </a:prstGeom>
        </p:spPr>
      </p:pic>
      <p:sp>
        <p:nvSpPr>
          <p:cNvPr id="7" name="Shape 4"/>
          <p:cNvSpPr/>
          <p:nvPr/>
        </p:nvSpPr>
        <p:spPr>
          <a:xfrm>
            <a:off x="502920" y="3520440"/>
            <a:ext cx="1965960" cy="1051560"/>
          </a:xfrm>
          <a:prstGeom prst="rect">
            <a:avLst/>
          </a:prstGeom>
          <a:solidFill>
            <a:srgbClr val="0B1220"/>
          </a:solidFill>
          <a:ln w="12700">
            <a:solidFill>
              <a:srgbClr val="0B1220"/>
            </a:solidFill>
            <a:prstDash val="solid"/>
          </a:ln>
        </p:spPr>
      </p:sp>
      <p:sp>
        <p:nvSpPr>
          <p:cNvPr id="8" name="Text 5"/>
          <p:cNvSpPr txBox="1"/>
          <p:nvPr/>
        </p:nvSpPr>
        <p:spPr>
          <a:xfrm>
            <a:off x="502920" y="3584448"/>
            <a:ext cx="1965960" cy="502920"/>
          </a:xfrm>
          <a:prstGeom prst="rect">
            <a:avLst/>
          </a:prstGeom>
          <a:noFill/>
          <a:ln/>
        </p:spPr>
        <p:txBody>
          <a:bodyPr wrap="square" lIns="0" tIns="0" rIns="0" bIns="0" rtlCol="0" anchor="ctr"/>
          <a:lstStyle/>
          <a:p>
            <a:pPr marL="0" indent="0" algn="ctr">
              <a:buNone/>
            </a:pPr>
            <a:r>
              <a:rPr lang="en-US" sz="2400" b="1" dirty="0">
                <a:solidFill>
                  <a:srgbClr val="FFFFFF"/>
                </a:solidFill>
              </a:rPr>
              <a:t>96x96x3</a:t>
            </a:r>
            <a:endParaRPr lang="en-US" sz="2400" dirty="0"/>
          </a:p>
        </p:txBody>
      </p:sp>
      <p:sp>
        <p:nvSpPr>
          <p:cNvPr id="9" name="Text 6"/>
          <p:cNvSpPr txBox="1"/>
          <p:nvPr/>
        </p:nvSpPr>
        <p:spPr>
          <a:xfrm>
            <a:off x="594360" y="4069080"/>
            <a:ext cx="1783080" cy="457200"/>
          </a:xfrm>
          <a:prstGeom prst="rect">
            <a:avLst/>
          </a:prstGeom>
          <a:noFill/>
          <a:ln/>
        </p:spPr>
        <p:txBody>
          <a:bodyPr wrap="square" lIns="0" tIns="0" rIns="0" bIns="0" rtlCol="0" anchor="t"/>
          <a:lstStyle/>
          <a:p>
            <a:pPr marL="0" indent="0" algn="ctr">
              <a:buNone/>
            </a:pPr>
            <a:r>
              <a:rPr lang="en-US" sz="1100" dirty="0">
                <a:solidFill>
                  <a:srgbClr val="C9D4E5"/>
                </a:solidFill>
              </a:rPr>
              <a:t>input skeleton image</a:t>
            </a:r>
            <a:endParaRPr lang="en-US" sz="1100" dirty="0"/>
          </a:p>
        </p:txBody>
      </p:sp>
      <p:sp>
        <p:nvSpPr>
          <p:cNvPr id="10" name="Shape 7"/>
          <p:cNvSpPr/>
          <p:nvPr/>
        </p:nvSpPr>
        <p:spPr>
          <a:xfrm>
            <a:off x="2560320" y="3520440"/>
            <a:ext cx="1965960" cy="1051560"/>
          </a:xfrm>
          <a:prstGeom prst="rect">
            <a:avLst/>
          </a:prstGeom>
          <a:solidFill>
            <a:srgbClr val="0B1220"/>
          </a:solidFill>
          <a:ln w="12700">
            <a:solidFill>
              <a:srgbClr val="0B1220"/>
            </a:solidFill>
            <a:prstDash val="solid"/>
          </a:ln>
        </p:spPr>
      </p:sp>
      <p:sp>
        <p:nvSpPr>
          <p:cNvPr id="11" name="Text 8"/>
          <p:cNvSpPr txBox="1"/>
          <p:nvPr/>
        </p:nvSpPr>
        <p:spPr>
          <a:xfrm>
            <a:off x="2560320" y="3584448"/>
            <a:ext cx="1965960" cy="502920"/>
          </a:xfrm>
          <a:prstGeom prst="rect">
            <a:avLst/>
          </a:prstGeom>
          <a:noFill/>
          <a:ln/>
        </p:spPr>
        <p:txBody>
          <a:bodyPr wrap="square" lIns="0" tIns="0" rIns="0" bIns="0" rtlCol="0" anchor="ctr"/>
          <a:lstStyle/>
          <a:p>
            <a:pPr marL="0" indent="0" algn="ctr">
              <a:buNone/>
            </a:pPr>
            <a:r>
              <a:rPr lang="en-US" sz="2400" b="1" dirty="0">
                <a:solidFill>
                  <a:srgbClr val="FFFFFF"/>
                </a:solidFill>
              </a:rPr>
              <a:t>3 blocks</a:t>
            </a:r>
            <a:endParaRPr lang="en-US" sz="2400" dirty="0"/>
          </a:p>
        </p:txBody>
      </p:sp>
      <p:sp>
        <p:nvSpPr>
          <p:cNvPr id="12" name="Text 9"/>
          <p:cNvSpPr txBox="1"/>
          <p:nvPr/>
        </p:nvSpPr>
        <p:spPr>
          <a:xfrm>
            <a:off x="2651760" y="4069080"/>
            <a:ext cx="1783080" cy="457200"/>
          </a:xfrm>
          <a:prstGeom prst="rect">
            <a:avLst/>
          </a:prstGeom>
          <a:noFill/>
          <a:ln/>
        </p:spPr>
        <p:txBody>
          <a:bodyPr wrap="square" lIns="0" tIns="0" rIns="0" bIns="0" rtlCol="0" anchor="t"/>
          <a:lstStyle/>
          <a:p>
            <a:pPr marL="0" indent="0" algn="ctr">
              <a:buNone/>
            </a:pPr>
            <a:r>
              <a:rPr lang="en-US" sz="1100" dirty="0">
                <a:solidFill>
                  <a:srgbClr val="C9D4E5"/>
                </a:solidFill>
              </a:rPr>
              <a:t>double-conv, batch norm, dropout</a:t>
            </a:r>
            <a:endParaRPr lang="en-US" sz="1100" dirty="0"/>
          </a:p>
        </p:txBody>
      </p:sp>
      <p:sp>
        <p:nvSpPr>
          <p:cNvPr id="13" name="Shape 10"/>
          <p:cNvSpPr/>
          <p:nvPr/>
        </p:nvSpPr>
        <p:spPr>
          <a:xfrm>
            <a:off x="4617720" y="3520440"/>
            <a:ext cx="1965960" cy="1051560"/>
          </a:xfrm>
          <a:prstGeom prst="rect">
            <a:avLst/>
          </a:prstGeom>
          <a:solidFill>
            <a:srgbClr val="0B1220"/>
          </a:solidFill>
          <a:ln w="12700">
            <a:solidFill>
              <a:srgbClr val="0B1220"/>
            </a:solidFill>
            <a:prstDash val="solid"/>
          </a:ln>
        </p:spPr>
      </p:sp>
      <p:sp>
        <p:nvSpPr>
          <p:cNvPr id="14" name="Text 11"/>
          <p:cNvSpPr txBox="1"/>
          <p:nvPr/>
        </p:nvSpPr>
        <p:spPr>
          <a:xfrm>
            <a:off x="4617720" y="3584448"/>
            <a:ext cx="1965960" cy="502920"/>
          </a:xfrm>
          <a:prstGeom prst="rect">
            <a:avLst/>
          </a:prstGeom>
          <a:noFill/>
          <a:ln/>
        </p:spPr>
        <p:txBody>
          <a:bodyPr wrap="square" lIns="0" tIns="0" rIns="0" bIns="0" rtlCol="0" anchor="ctr"/>
          <a:lstStyle/>
          <a:p>
            <a:pPr marL="0" indent="0" algn="ctr">
              <a:buNone/>
            </a:pPr>
            <a:r>
              <a:rPr lang="en-US" sz="2400" b="1" dirty="0">
                <a:solidFill>
                  <a:srgbClr val="FFFFFF"/>
                </a:solidFill>
              </a:rPr>
              <a:t>308,602</a:t>
            </a:r>
            <a:endParaRPr lang="en-US" sz="2400" dirty="0"/>
          </a:p>
        </p:txBody>
      </p:sp>
      <p:sp>
        <p:nvSpPr>
          <p:cNvPr id="15" name="Text 12"/>
          <p:cNvSpPr txBox="1"/>
          <p:nvPr/>
        </p:nvSpPr>
        <p:spPr>
          <a:xfrm>
            <a:off x="4709160" y="4069080"/>
            <a:ext cx="1783080" cy="457200"/>
          </a:xfrm>
          <a:prstGeom prst="rect">
            <a:avLst/>
          </a:prstGeom>
          <a:noFill/>
          <a:ln/>
        </p:spPr>
        <p:txBody>
          <a:bodyPr wrap="square" lIns="0" tIns="0" rIns="0" bIns="0" rtlCol="0" anchor="t"/>
          <a:lstStyle/>
          <a:p>
            <a:pPr marL="0" indent="0" algn="ctr">
              <a:buNone/>
            </a:pPr>
            <a:r>
              <a:rPr lang="en-US" sz="1100" dirty="0">
                <a:solidFill>
                  <a:srgbClr val="C9D4E5"/>
                </a:solidFill>
              </a:rPr>
              <a:t>parameters</a:t>
            </a:r>
            <a:endParaRPr lang="en-US" sz="1100" dirty="0"/>
          </a:p>
        </p:txBody>
      </p:sp>
      <p:sp>
        <p:nvSpPr>
          <p:cNvPr id="16" name="Shape 13"/>
          <p:cNvSpPr/>
          <p:nvPr/>
        </p:nvSpPr>
        <p:spPr>
          <a:xfrm>
            <a:off x="6675120" y="3520440"/>
            <a:ext cx="1965960" cy="1051560"/>
          </a:xfrm>
          <a:prstGeom prst="rect">
            <a:avLst/>
          </a:prstGeom>
          <a:solidFill>
            <a:srgbClr val="0B1220"/>
          </a:solidFill>
          <a:ln w="12700">
            <a:solidFill>
              <a:srgbClr val="0B1220"/>
            </a:solidFill>
            <a:prstDash val="solid"/>
          </a:ln>
        </p:spPr>
      </p:sp>
      <p:sp>
        <p:nvSpPr>
          <p:cNvPr id="17" name="Text 14"/>
          <p:cNvSpPr txBox="1"/>
          <p:nvPr/>
        </p:nvSpPr>
        <p:spPr>
          <a:xfrm>
            <a:off x="6675120" y="3584448"/>
            <a:ext cx="1965960" cy="502920"/>
          </a:xfrm>
          <a:prstGeom prst="rect">
            <a:avLst/>
          </a:prstGeom>
          <a:noFill/>
          <a:ln/>
        </p:spPr>
        <p:txBody>
          <a:bodyPr wrap="square" lIns="0" tIns="0" rIns="0" bIns="0" rtlCol="0" anchor="ctr"/>
          <a:lstStyle/>
          <a:p>
            <a:pPr marL="0" indent="0" algn="ctr">
              <a:buNone/>
            </a:pPr>
            <a:r>
              <a:rPr lang="en-US" sz="2400" b="1" dirty="0">
                <a:solidFill>
                  <a:srgbClr val="FFFFFF"/>
                </a:solidFill>
              </a:rPr>
              <a:t>26</a:t>
            </a:r>
            <a:endParaRPr lang="en-US" sz="2400" dirty="0"/>
          </a:p>
        </p:txBody>
      </p:sp>
      <p:sp>
        <p:nvSpPr>
          <p:cNvPr id="18" name="Text 15"/>
          <p:cNvSpPr txBox="1"/>
          <p:nvPr/>
        </p:nvSpPr>
        <p:spPr>
          <a:xfrm>
            <a:off x="6766560" y="4069080"/>
            <a:ext cx="1783080" cy="457200"/>
          </a:xfrm>
          <a:prstGeom prst="rect">
            <a:avLst/>
          </a:prstGeom>
          <a:noFill/>
          <a:ln/>
        </p:spPr>
        <p:txBody>
          <a:bodyPr wrap="square" lIns="0" tIns="0" rIns="0" bIns="0" rtlCol="0" anchor="t"/>
          <a:lstStyle/>
          <a:p>
            <a:pPr marL="0" indent="0" algn="ctr">
              <a:buNone/>
            </a:pPr>
            <a:r>
              <a:rPr lang="en-US" sz="1100" dirty="0">
                <a:solidFill>
                  <a:srgbClr val="C9D4E5"/>
                </a:solidFill>
              </a:rPr>
              <a:t>output letters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DATA</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Data and training: an honest test</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7</a:t>
            </a:r>
            <a:endParaRPr lang="en-US" sz="1000" dirty="0"/>
          </a:p>
        </p:txBody>
      </p:sp>
      <p:pic>
        <p:nvPicPr>
          <p:cNvPr id="6" name="Image 0" descr="/home/claude/assets/dataset-split.png"/>
          <p:cNvPicPr>
            <a:picLocks noChangeAspect="1"/>
          </p:cNvPicPr>
          <p:nvPr/>
        </p:nvPicPr>
        <p:blipFill>
          <a:blip r:embed="rId3"/>
          <a:stretch>
            <a:fillRect/>
          </a:stretch>
        </p:blipFill>
        <p:spPr>
          <a:xfrm>
            <a:off x="502920" y="1280160"/>
            <a:ext cx="4846320" cy="1410818"/>
          </a:xfrm>
          <a:prstGeom prst="rect">
            <a:avLst/>
          </a:prstGeom>
        </p:spPr>
      </p:pic>
      <p:pic>
        <p:nvPicPr>
          <p:cNvPr id="7" name="Image 1" descr="/home/claude/assets/training-accuracy.png"/>
          <p:cNvPicPr>
            <a:picLocks noChangeAspect="1"/>
          </p:cNvPicPr>
          <p:nvPr/>
        </p:nvPicPr>
        <p:blipFill>
          <a:blip r:embed="rId4"/>
          <a:stretch>
            <a:fillRect/>
          </a:stretch>
        </p:blipFill>
        <p:spPr>
          <a:xfrm>
            <a:off x="502920" y="2743200"/>
            <a:ext cx="3840480" cy="1396538"/>
          </a:xfrm>
          <a:prstGeom prst="rect">
            <a:avLst/>
          </a:prstGeom>
        </p:spPr>
      </p:pic>
      <p:sp>
        <p:nvSpPr>
          <p:cNvPr id="8" name="Shape 4"/>
          <p:cNvSpPr/>
          <p:nvPr/>
        </p:nvSpPr>
        <p:spPr>
          <a:xfrm>
            <a:off x="5532120" y="1280160"/>
            <a:ext cx="3108960" cy="1508760"/>
          </a:xfrm>
          <a:prstGeom prst="rect">
            <a:avLst/>
          </a:prstGeom>
          <a:solidFill>
            <a:srgbClr val="FFFFFF"/>
          </a:solidFill>
          <a:ln w="12700">
            <a:solidFill>
              <a:srgbClr val="DCE3EE"/>
            </a:solidFill>
            <a:prstDash val="solid"/>
          </a:ln>
        </p:spPr>
      </p:sp>
      <p:sp>
        <p:nvSpPr>
          <p:cNvPr id="9" name="Shape 5"/>
          <p:cNvSpPr/>
          <p:nvPr/>
        </p:nvSpPr>
        <p:spPr>
          <a:xfrm>
            <a:off x="5532120" y="1280160"/>
            <a:ext cx="64008" cy="1508760"/>
          </a:xfrm>
          <a:prstGeom prst="rect">
            <a:avLst/>
          </a:prstGeom>
          <a:solidFill>
            <a:srgbClr val="22C55E"/>
          </a:solidFill>
          <a:ln w="12700">
            <a:solidFill>
              <a:srgbClr val="22C55E"/>
            </a:solidFill>
            <a:prstDash val="solid"/>
          </a:ln>
        </p:spPr>
      </p:sp>
      <p:sp>
        <p:nvSpPr>
          <p:cNvPr id="10" name="Text 6"/>
          <p:cNvSpPr txBox="1"/>
          <p:nvPr/>
        </p:nvSpPr>
        <p:spPr>
          <a:xfrm>
            <a:off x="5715000" y="1371600"/>
            <a:ext cx="2834640" cy="292608"/>
          </a:xfrm>
          <a:prstGeom prst="rect">
            <a:avLst/>
          </a:prstGeom>
          <a:noFill/>
          <a:ln/>
        </p:spPr>
        <p:txBody>
          <a:bodyPr wrap="square" lIns="0" tIns="0" rIns="0" bIns="0" rtlCol="0" anchor="t"/>
          <a:lstStyle/>
          <a:p>
            <a:pPr marL="0" indent="0">
              <a:buNone/>
            </a:pPr>
            <a:r>
              <a:rPr lang="en-US" sz="1400" b="1" dirty="0">
                <a:solidFill>
                  <a:srgbClr val="0B1220"/>
                </a:solidFill>
              </a:rPr>
              <a:t>Held-out test set</a:t>
            </a:r>
            <a:endParaRPr lang="en-US" sz="1400" dirty="0"/>
          </a:p>
        </p:txBody>
      </p:sp>
      <p:sp>
        <p:nvSpPr>
          <p:cNvPr id="11" name="Text 7"/>
          <p:cNvSpPr txBox="1"/>
          <p:nvPr/>
        </p:nvSpPr>
        <p:spPr>
          <a:xfrm>
            <a:off x="5715000" y="1691640"/>
            <a:ext cx="2834640" cy="10332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One whole dataset (a different person, different lighting) was never shown to the model. That is the number that predicts real use.</a:t>
            </a:r>
            <a:endParaRPr lang="en-US" sz="1150" dirty="0"/>
          </a:p>
        </p:txBody>
      </p:sp>
      <p:sp>
        <p:nvSpPr>
          <p:cNvPr id="12" name="Shape 8"/>
          <p:cNvSpPr/>
          <p:nvPr/>
        </p:nvSpPr>
        <p:spPr>
          <a:xfrm>
            <a:off x="5532120" y="2926080"/>
            <a:ext cx="3108960" cy="1508760"/>
          </a:xfrm>
          <a:prstGeom prst="rect">
            <a:avLst/>
          </a:prstGeom>
          <a:solidFill>
            <a:srgbClr val="0B1220"/>
          </a:solidFill>
          <a:ln w="12700">
            <a:solidFill>
              <a:srgbClr val="0B1220"/>
            </a:solidFill>
            <a:prstDash val="solid"/>
          </a:ln>
        </p:spPr>
      </p:sp>
      <p:sp>
        <p:nvSpPr>
          <p:cNvPr id="13" name="Text 9"/>
          <p:cNvSpPr txBox="1"/>
          <p:nvPr/>
        </p:nvSpPr>
        <p:spPr>
          <a:xfrm>
            <a:off x="5715000" y="2971800"/>
            <a:ext cx="2834640" cy="1417320"/>
          </a:xfrm>
          <a:prstGeom prst="rect">
            <a:avLst/>
          </a:prstGeom>
          <a:noFill/>
          <a:ln/>
        </p:spPr>
        <p:txBody>
          <a:bodyPr wrap="square" lIns="0" tIns="0" rIns="0" bIns="0" rtlCol="0" anchor="ctr"/>
          <a:lstStyle/>
          <a:p>
            <a:pPr marL="0" indent="0">
              <a:buNone/>
            </a:pPr>
            <a:r>
              <a:rPr lang="en-US" sz="2600" b="1" dirty="0">
                <a:solidFill>
                  <a:srgbClr val="FFFFFF"/>
                </a:solidFill>
              </a:rPr>
              <a:t>96.8%</a:t>
            </a:r>
            <a:endParaRPr lang="en-US" sz="2600" dirty="0"/>
          </a:p>
          <a:p>
            <a:pPr marL="0" indent="0">
              <a:buNone/>
            </a:pPr>
            <a:r>
              <a:rPr lang="en-US" sz="1100" dirty="0">
                <a:solidFill>
                  <a:srgbClr val="C9D4E5"/>
                </a:solidFill>
              </a:rPr>
              <a:t>validation accuracy</a:t>
            </a:r>
            <a:endParaRPr lang="en-US" sz="2600" dirty="0"/>
          </a:p>
          <a:p>
            <a:pPr marL="0" indent="0">
              <a:buNone/>
            </a:pPr>
            <a:r>
              <a:rPr lang="en-US" sz="2600" b="1" dirty="0">
                <a:solidFill>
                  <a:srgbClr val="22C55E"/>
                </a:solidFill>
              </a:rPr>
              <a:t>93.7%</a:t>
            </a:r>
            <a:endParaRPr lang="en-US" sz="2600" dirty="0"/>
          </a:p>
          <a:p>
            <a:pPr marL="0" indent="0">
              <a:buNone/>
            </a:pPr>
            <a:r>
              <a:rPr lang="en-US" sz="1100" dirty="0">
                <a:solidFill>
                  <a:srgbClr val="C9D4E5"/>
                </a:solidFill>
              </a:rPr>
              <a:t>test accuracy (unseen signer)</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VIBE CODING</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How it was built: vibe coding, with real debugging</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8</a:t>
            </a:r>
            <a:endParaRPr lang="en-US" sz="1000" dirty="0"/>
          </a:p>
        </p:txBody>
      </p:sp>
      <p:pic>
        <p:nvPicPr>
          <p:cNvPr id="6" name="Image 0" descr="/home/claude/assets/journey-timeline.png"/>
          <p:cNvPicPr>
            <a:picLocks noChangeAspect="1"/>
          </p:cNvPicPr>
          <p:nvPr/>
        </p:nvPicPr>
        <p:blipFill>
          <a:blip r:embed="rId3"/>
          <a:stretch>
            <a:fillRect/>
          </a:stretch>
        </p:blipFill>
        <p:spPr>
          <a:xfrm>
            <a:off x="502920" y="1280160"/>
            <a:ext cx="8138160" cy="1767789"/>
          </a:xfrm>
          <a:prstGeom prst="rect">
            <a:avLst/>
          </a:prstGeom>
        </p:spPr>
      </p:pic>
      <p:sp>
        <p:nvSpPr>
          <p:cNvPr id="7" name="Shape 4"/>
          <p:cNvSpPr/>
          <p:nvPr/>
        </p:nvSpPr>
        <p:spPr>
          <a:xfrm>
            <a:off x="502920" y="3200400"/>
            <a:ext cx="2651760" cy="1417320"/>
          </a:xfrm>
          <a:prstGeom prst="rect">
            <a:avLst/>
          </a:prstGeom>
          <a:solidFill>
            <a:srgbClr val="FFFFFF"/>
          </a:solidFill>
          <a:ln w="12700">
            <a:solidFill>
              <a:srgbClr val="DCE3EE"/>
            </a:solidFill>
            <a:prstDash val="solid"/>
          </a:ln>
        </p:spPr>
      </p:sp>
      <p:sp>
        <p:nvSpPr>
          <p:cNvPr id="8" name="Shape 5"/>
          <p:cNvSpPr/>
          <p:nvPr/>
        </p:nvSpPr>
        <p:spPr>
          <a:xfrm>
            <a:off x="502920" y="3200400"/>
            <a:ext cx="64008" cy="1417320"/>
          </a:xfrm>
          <a:prstGeom prst="rect">
            <a:avLst/>
          </a:prstGeom>
          <a:solidFill>
            <a:srgbClr val="2F7BF6"/>
          </a:solidFill>
          <a:ln w="12700">
            <a:solidFill>
              <a:srgbClr val="2F7BF6"/>
            </a:solidFill>
            <a:prstDash val="solid"/>
          </a:ln>
        </p:spPr>
      </p:sp>
      <p:sp>
        <p:nvSpPr>
          <p:cNvPr id="9" name="Text 6"/>
          <p:cNvSpPr txBox="1"/>
          <p:nvPr/>
        </p:nvSpPr>
        <p:spPr>
          <a:xfrm>
            <a:off x="685800" y="32918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What AI did well</a:t>
            </a:r>
            <a:endParaRPr lang="en-US" sz="1400" dirty="0"/>
          </a:p>
        </p:txBody>
      </p:sp>
      <p:sp>
        <p:nvSpPr>
          <p:cNvPr id="10" name="Text 7"/>
          <p:cNvSpPr txBox="1"/>
          <p:nvPr/>
        </p:nvSpPr>
        <p:spPr>
          <a:xfrm>
            <a:off x="685800" y="3611880"/>
            <a:ext cx="2377440" cy="941832"/>
          </a:xfrm>
          <a:prstGeom prst="rect">
            <a:avLst/>
          </a:prstGeom>
          <a:noFill/>
          <a:ln/>
        </p:spPr>
        <p:txBody>
          <a:bodyPr wrap="square" lIns="0" tIns="0" rIns="0" bIns="0" rtlCol="0" anchor="t"/>
          <a:lstStyle/>
          <a:p>
            <a:pPr marL="0" indent="0">
              <a:spcAft>
                <a:spcPts val="300"/>
              </a:spcAft>
              <a:buNone/>
            </a:pPr>
            <a:r>
              <a:rPr lang="en-US" sz="1100" dirty="0">
                <a:solidFill>
                  <a:srgbClr val="1F2937"/>
                </a:solidFill>
              </a:rPr>
              <a:t>Wrote about 2,600 lines across 11 Python modules: data prep, training, export, live app, UI, smoothing, motion tracking.</a:t>
            </a:r>
            <a:endParaRPr lang="en-US" sz="1100" dirty="0"/>
          </a:p>
        </p:txBody>
      </p:sp>
      <p:sp>
        <p:nvSpPr>
          <p:cNvPr id="11" name="Shape 8"/>
          <p:cNvSpPr/>
          <p:nvPr/>
        </p:nvSpPr>
        <p:spPr>
          <a:xfrm>
            <a:off x="3246120" y="3200400"/>
            <a:ext cx="2651760" cy="1417320"/>
          </a:xfrm>
          <a:prstGeom prst="rect">
            <a:avLst/>
          </a:prstGeom>
          <a:solidFill>
            <a:srgbClr val="FFFFFF"/>
          </a:solidFill>
          <a:ln w="12700">
            <a:solidFill>
              <a:srgbClr val="DCE3EE"/>
            </a:solidFill>
            <a:prstDash val="solid"/>
          </a:ln>
        </p:spPr>
      </p:sp>
      <p:sp>
        <p:nvSpPr>
          <p:cNvPr id="12" name="Shape 9"/>
          <p:cNvSpPr/>
          <p:nvPr/>
        </p:nvSpPr>
        <p:spPr>
          <a:xfrm>
            <a:off x="3246120" y="3200400"/>
            <a:ext cx="64008" cy="1417320"/>
          </a:xfrm>
          <a:prstGeom prst="rect">
            <a:avLst/>
          </a:prstGeom>
          <a:solidFill>
            <a:srgbClr val="F59E0B"/>
          </a:solidFill>
          <a:ln w="12700">
            <a:solidFill>
              <a:srgbClr val="F59E0B"/>
            </a:solidFill>
            <a:prstDash val="solid"/>
          </a:ln>
        </p:spPr>
      </p:sp>
      <p:sp>
        <p:nvSpPr>
          <p:cNvPr id="13" name="Text 10"/>
          <p:cNvSpPr txBox="1"/>
          <p:nvPr/>
        </p:nvSpPr>
        <p:spPr>
          <a:xfrm>
            <a:off x="3429000" y="32918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Where it needed steering</a:t>
            </a:r>
            <a:endParaRPr lang="en-US" sz="1400" dirty="0"/>
          </a:p>
        </p:txBody>
      </p:sp>
      <p:sp>
        <p:nvSpPr>
          <p:cNvPr id="14" name="Text 11"/>
          <p:cNvSpPr txBox="1"/>
          <p:nvPr/>
        </p:nvSpPr>
        <p:spPr>
          <a:xfrm>
            <a:off x="3429000" y="3611880"/>
            <a:ext cx="2377440" cy="941832"/>
          </a:xfrm>
          <a:prstGeom prst="rect">
            <a:avLst/>
          </a:prstGeom>
          <a:noFill/>
          <a:ln/>
        </p:spPr>
        <p:txBody>
          <a:bodyPr wrap="square" lIns="0" tIns="0" rIns="0" bIns="0" rtlCol="0" anchor="t"/>
          <a:lstStyle/>
          <a:p>
            <a:pPr marL="0" indent="0">
              <a:spcAft>
                <a:spcPts val="300"/>
              </a:spcAft>
              <a:buNone/>
            </a:pPr>
            <a:r>
              <a:rPr lang="en-US" sz="1100" dirty="0">
                <a:solidFill>
                  <a:srgbClr val="1F2937"/>
                </a:solidFill>
              </a:rPr>
              <a:t>First version reported 97.9% from a leaky split and flickered live. We found it, rebuilt the pipeline and retrained.</a:t>
            </a:r>
            <a:endParaRPr lang="en-US" sz="1100" dirty="0"/>
          </a:p>
        </p:txBody>
      </p:sp>
      <p:sp>
        <p:nvSpPr>
          <p:cNvPr id="15" name="Shape 12"/>
          <p:cNvSpPr/>
          <p:nvPr/>
        </p:nvSpPr>
        <p:spPr>
          <a:xfrm>
            <a:off x="5989320" y="3200400"/>
            <a:ext cx="2651760" cy="1417320"/>
          </a:xfrm>
          <a:prstGeom prst="rect">
            <a:avLst/>
          </a:prstGeom>
          <a:solidFill>
            <a:srgbClr val="FFFFFF"/>
          </a:solidFill>
          <a:ln w="12700">
            <a:solidFill>
              <a:srgbClr val="DCE3EE"/>
            </a:solidFill>
            <a:prstDash val="solid"/>
          </a:ln>
        </p:spPr>
      </p:sp>
      <p:sp>
        <p:nvSpPr>
          <p:cNvPr id="16" name="Shape 13"/>
          <p:cNvSpPr/>
          <p:nvPr/>
        </p:nvSpPr>
        <p:spPr>
          <a:xfrm>
            <a:off x="5989320" y="3200400"/>
            <a:ext cx="64008" cy="1417320"/>
          </a:xfrm>
          <a:prstGeom prst="rect">
            <a:avLst/>
          </a:prstGeom>
          <a:solidFill>
            <a:srgbClr val="22C55E"/>
          </a:solidFill>
          <a:ln w="12700">
            <a:solidFill>
              <a:srgbClr val="22C55E"/>
            </a:solidFill>
            <a:prstDash val="solid"/>
          </a:ln>
        </p:spPr>
      </p:sp>
      <p:sp>
        <p:nvSpPr>
          <p:cNvPr id="17" name="Text 14"/>
          <p:cNvSpPr txBox="1"/>
          <p:nvPr/>
        </p:nvSpPr>
        <p:spPr>
          <a:xfrm>
            <a:off x="6172200" y="3291840"/>
            <a:ext cx="2377440" cy="292608"/>
          </a:xfrm>
          <a:prstGeom prst="rect">
            <a:avLst/>
          </a:prstGeom>
          <a:noFill/>
          <a:ln/>
        </p:spPr>
        <p:txBody>
          <a:bodyPr wrap="square" lIns="0" tIns="0" rIns="0" bIns="0" rtlCol="0" anchor="t"/>
          <a:lstStyle/>
          <a:p>
            <a:pPr marL="0" indent="0">
              <a:buNone/>
            </a:pPr>
            <a:r>
              <a:rPr lang="en-US" sz="1400" b="1" dirty="0">
                <a:solidFill>
                  <a:srgbClr val="0B1220"/>
                </a:solidFill>
              </a:rPr>
              <a:t>Key lesson</a:t>
            </a:r>
            <a:endParaRPr lang="en-US" sz="1400" dirty="0"/>
          </a:p>
        </p:txBody>
      </p:sp>
      <p:sp>
        <p:nvSpPr>
          <p:cNvPr id="18" name="Text 15"/>
          <p:cNvSpPr txBox="1"/>
          <p:nvPr/>
        </p:nvSpPr>
        <p:spPr>
          <a:xfrm>
            <a:off x="6172200" y="3611880"/>
            <a:ext cx="2377440" cy="941832"/>
          </a:xfrm>
          <a:prstGeom prst="rect">
            <a:avLst/>
          </a:prstGeom>
          <a:noFill/>
          <a:ln/>
        </p:spPr>
        <p:txBody>
          <a:bodyPr wrap="square" lIns="0" tIns="0" rIns="0" bIns="0" rtlCol="0" anchor="t"/>
          <a:lstStyle/>
          <a:p>
            <a:pPr marL="0" indent="0">
              <a:spcAft>
                <a:spcPts val="300"/>
              </a:spcAft>
              <a:buNone/>
            </a:pPr>
            <a:r>
              <a:rPr lang="en-US" sz="1100" dirty="0">
                <a:solidFill>
                  <a:srgbClr val="1F2937"/>
                </a:solidFill>
              </a:rPr>
              <a:t>Vibe coding is fast, but verification is the human job: honest test sets, parity checks, live testing.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02920" y="256032"/>
            <a:ext cx="7315200" cy="274320"/>
          </a:xfrm>
          <a:prstGeom prst="rect">
            <a:avLst/>
          </a:prstGeom>
          <a:noFill/>
          <a:ln/>
        </p:spPr>
        <p:txBody>
          <a:bodyPr wrap="square" lIns="0" tIns="0" rIns="0" bIns="0" rtlCol="0" anchor="ctr"/>
          <a:lstStyle/>
          <a:p>
            <a:pPr marL="0" indent="0">
              <a:buNone/>
            </a:pPr>
            <a:r>
              <a:rPr lang="en-US" sz="1100" b="1" kern="0" spc="300" dirty="0">
                <a:solidFill>
                  <a:srgbClr val="2F7BF6"/>
                </a:solidFill>
              </a:rPr>
              <a:t>OUTCOME</a:t>
            </a:r>
            <a:endParaRPr lang="en-US" sz="1100" dirty="0"/>
          </a:p>
        </p:txBody>
      </p:sp>
      <p:sp>
        <p:nvSpPr>
          <p:cNvPr id="4" name="Text 2"/>
          <p:cNvSpPr txBox="1"/>
          <p:nvPr/>
        </p:nvSpPr>
        <p:spPr>
          <a:xfrm>
            <a:off x="502920" y="530352"/>
            <a:ext cx="8138160" cy="640080"/>
          </a:xfrm>
          <a:prstGeom prst="rect">
            <a:avLst/>
          </a:prstGeom>
          <a:noFill/>
          <a:ln/>
        </p:spPr>
        <p:txBody>
          <a:bodyPr wrap="square" lIns="0" tIns="0" rIns="0" bIns="0" rtlCol="0" anchor="t"/>
          <a:lstStyle/>
          <a:p>
            <a:pPr marL="0" indent="0">
              <a:buNone/>
            </a:pPr>
            <a:r>
              <a:rPr lang="en-US" sz="2800" b="1" dirty="0">
                <a:solidFill>
                  <a:srgbClr val="0B1220"/>
                </a:solidFill>
              </a:rPr>
              <a:t>Results, lessons and what is next</a:t>
            </a:r>
            <a:endParaRPr lang="en-US" sz="2800" dirty="0"/>
          </a:p>
        </p:txBody>
      </p:sp>
      <p:sp>
        <p:nvSpPr>
          <p:cNvPr id="5" name="Text 3"/>
          <p:cNvSpPr txBox="1"/>
          <p:nvPr/>
        </p:nvSpPr>
        <p:spPr>
          <a:xfrm>
            <a:off x="8412480" y="4800600"/>
            <a:ext cx="457200" cy="228600"/>
          </a:xfrm>
          <a:prstGeom prst="rect">
            <a:avLst/>
          </a:prstGeom>
          <a:noFill/>
          <a:ln/>
        </p:spPr>
        <p:txBody>
          <a:bodyPr wrap="square" lIns="0" tIns="0" rIns="0" bIns="0" rtlCol="0" anchor="ctr"/>
          <a:lstStyle/>
          <a:p>
            <a:pPr marL="0" indent="0" algn="r">
              <a:buNone/>
            </a:pPr>
            <a:r>
              <a:rPr lang="en-US" sz="1000" dirty="0">
                <a:solidFill>
                  <a:srgbClr val="5B6B82"/>
                </a:solidFill>
              </a:rPr>
              <a:t>9</a:t>
            </a:r>
            <a:endParaRPr lang="en-US" sz="1000" dirty="0"/>
          </a:p>
        </p:txBody>
      </p:sp>
      <p:pic>
        <p:nvPicPr>
          <p:cNvPr id="6" name="Image 0" descr="/home/claude/assets/bug-chain.png"/>
          <p:cNvPicPr>
            <a:picLocks noChangeAspect="1"/>
          </p:cNvPicPr>
          <p:nvPr/>
        </p:nvPicPr>
        <p:blipFill>
          <a:blip r:embed="rId3"/>
          <a:stretch>
            <a:fillRect/>
          </a:stretch>
        </p:blipFill>
        <p:spPr>
          <a:xfrm>
            <a:off x="502920" y="1280160"/>
            <a:ext cx="4572000" cy="993140"/>
          </a:xfrm>
          <a:prstGeom prst="rect">
            <a:avLst/>
          </a:prstGeom>
        </p:spPr>
      </p:pic>
      <p:sp>
        <p:nvSpPr>
          <p:cNvPr id="7" name="Text 4"/>
          <p:cNvSpPr txBox="1"/>
          <p:nvPr/>
        </p:nvSpPr>
        <p:spPr>
          <a:xfrm>
            <a:off x="502920" y="2560320"/>
            <a:ext cx="4572000" cy="640080"/>
          </a:xfrm>
          <a:prstGeom prst="rect">
            <a:avLst/>
          </a:prstGeom>
          <a:noFill/>
          <a:ln/>
        </p:spPr>
        <p:txBody>
          <a:bodyPr wrap="square" lIns="0" tIns="0" rIns="0" bIns="0" rtlCol="0" anchor="t"/>
          <a:lstStyle/>
          <a:p>
            <a:pPr marL="0" indent="0">
              <a:buNone/>
            </a:pPr>
            <a:r>
              <a:rPr lang="en-US" sz="1100" dirty="0">
                <a:solidFill>
                  <a:srgbClr val="5B6B82"/>
                </a:solidFill>
              </a:rPr>
              <a:t>Training and live drawing disagreed (channel order, scale, framing): accuracy fell 98.6% to 39.6%. Fix: one shared renderer for both.</a:t>
            </a:r>
            <a:endParaRPr lang="en-US" sz="1100" dirty="0"/>
          </a:p>
        </p:txBody>
      </p:sp>
      <p:sp>
        <p:nvSpPr>
          <p:cNvPr id="8" name="Shape 5"/>
          <p:cNvSpPr/>
          <p:nvPr/>
        </p:nvSpPr>
        <p:spPr>
          <a:xfrm>
            <a:off x="5257800" y="1280160"/>
            <a:ext cx="3383280" cy="1920240"/>
          </a:xfrm>
          <a:prstGeom prst="rect">
            <a:avLst/>
          </a:prstGeom>
          <a:solidFill>
            <a:srgbClr val="FFFFFF"/>
          </a:solidFill>
          <a:ln w="12700">
            <a:solidFill>
              <a:srgbClr val="DCE3EE"/>
            </a:solidFill>
            <a:prstDash val="solid"/>
          </a:ln>
        </p:spPr>
      </p:sp>
      <p:sp>
        <p:nvSpPr>
          <p:cNvPr id="9" name="Shape 6"/>
          <p:cNvSpPr/>
          <p:nvPr/>
        </p:nvSpPr>
        <p:spPr>
          <a:xfrm>
            <a:off x="5257800" y="1280160"/>
            <a:ext cx="64008" cy="1920240"/>
          </a:xfrm>
          <a:prstGeom prst="rect">
            <a:avLst/>
          </a:prstGeom>
          <a:solidFill>
            <a:srgbClr val="22C55E"/>
          </a:solidFill>
          <a:ln w="12700">
            <a:solidFill>
              <a:srgbClr val="22C55E"/>
            </a:solidFill>
            <a:prstDash val="solid"/>
          </a:ln>
        </p:spPr>
      </p:sp>
      <p:sp>
        <p:nvSpPr>
          <p:cNvPr id="10" name="Text 7"/>
          <p:cNvSpPr txBox="1"/>
          <p:nvPr/>
        </p:nvSpPr>
        <p:spPr>
          <a:xfrm>
            <a:off x="5440680" y="1371600"/>
            <a:ext cx="3108960" cy="292608"/>
          </a:xfrm>
          <a:prstGeom prst="rect">
            <a:avLst/>
          </a:prstGeom>
          <a:noFill/>
          <a:ln/>
        </p:spPr>
        <p:txBody>
          <a:bodyPr wrap="square" lIns="0" tIns="0" rIns="0" bIns="0" rtlCol="0" anchor="t"/>
          <a:lstStyle/>
          <a:p>
            <a:pPr marL="0" indent="0">
              <a:buNone/>
            </a:pPr>
            <a:r>
              <a:rPr lang="en-US" sz="1400" b="1" dirty="0">
                <a:solidFill>
                  <a:srgbClr val="0B1220"/>
                </a:solidFill>
              </a:rPr>
              <a:t>Live reliability</a:t>
            </a:r>
            <a:endParaRPr lang="en-US" sz="1400" dirty="0"/>
          </a:p>
        </p:txBody>
      </p:sp>
      <p:sp>
        <p:nvSpPr>
          <p:cNvPr id="11" name="Text 8"/>
          <p:cNvSpPr txBox="1"/>
          <p:nvPr/>
        </p:nvSpPr>
        <p:spPr>
          <a:xfrm>
            <a:off x="5440680" y="1691640"/>
            <a:ext cx="3108960" cy="1444752"/>
          </a:xfrm>
          <a:prstGeom prst="rect">
            <a:avLst/>
          </a:prstGeom>
          <a:noFill/>
          <a:ln/>
        </p:spPr>
        <p:txBody>
          <a:bodyPr wrap="square" lIns="0" tIns="0" rIns="0" bIns="0" rtlCol="0" anchor="t"/>
          <a:lstStyle/>
          <a:p>
            <a:pPr marL="0" indent="0">
              <a:spcAft>
                <a:spcPts val="300"/>
              </a:spcAft>
              <a:buNone/>
            </a:pPr>
            <a:r>
              <a:rPr lang="en-US" sz="1200" dirty="0">
                <a:solidFill>
                  <a:srgbClr val="1F2937"/>
                </a:solidFill>
              </a:rPr>
              <a:t>94.6% of hands get a committed letter</a:t>
            </a:r>
            <a:endParaRPr lang="en-US" sz="1200" dirty="0"/>
          </a:p>
          <a:p>
            <a:pPr marL="0" indent="0">
              <a:spcAft>
                <a:spcPts val="300"/>
              </a:spcAft>
              <a:buNone/>
            </a:pPr>
            <a:r>
              <a:rPr lang="en-US" sz="1200" dirty="0">
                <a:solidFill>
                  <a:srgbClr val="1F2937"/>
                </a:solidFill>
              </a:rPr>
              <a:t>96.7% precision once committed</a:t>
            </a:r>
            <a:endParaRPr lang="en-US" sz="1200" dirty="0"/>
          </a:p>
          <a:p>
            <a:pPr marL="0" indent="0">
              <a:spcAft>
                <a:spcPts val="300"/>
              </a:spcAft>
              <a:buNone/>
            </a:pPr>
            <a:r>
              <a:rPr lang="en-US" sz="1200" dirty="0">
                <a:solidFill>
                  <a:srgbClr val="1F2937"/>
                </a:solidFill>
              </a:rPr>
              <a:t>99.0% stable under jitter when correct</a:t>
            </a:r>
            <a:endParaRPr lang="en-US" sz="1200" dirty="0"/>
          </a:p>
        </p:txBody>
      </p:sp>
      <p:sp>
        <p:nvSpPr>
          <p:cNvPr id="12" name="Shape 9"/>
          <p:cNvSpPr/>
          <p:nvPr/>
        </p:nvSpPr>
        <p:spPr>
          <a:xfrm>
            <a:off x="502920" y="3383280"/>
            <a:ext cx="3977640" cy="1280160"/>
          </a:xfrm>
          <a:prstGeom prst="rect">
            <a:avLst/>
          </a:prstGeom>
          <a:solidFill>
            <a:srgbClr val="FFFFFF"/>
          </a:solidFill>
          <a:ln w="12700">
            <a:solidFill>
              <a:srgbClr val="DCE3EE"/>
            </a:solidFill>
            <a:prstDash val="solid"/>
          </a:ln>
        </p:spPr>
      </p:sp>
      <p:sp>
        <p:nvSpPr>
          <p:cNvPr id="13" name="Shape 10"/>
          <p:cNvSpPr/>
          <p:nvPr/>
        </p:nvSpPr>
        <p:spPr>
          <a:xfrm>
            <a:off x="502920" y="3383280"/>
            <a:ext cx="64008" cy="1280160"/>
          </a:xfrm>
          <a:prstGeom prst="rect">
            <a:avLst/>
          </a:prstGeom>
          <a:solidFill>
            <a:srgbClr val="EF4444"/>
          </a:solidFill>
          <a:ln w="12700">
            <a:solidFill>
              <a:srgbClr val="EF4444"/>
            </a:solidFill>
            <a:prstDash val="solid"/>
          </a:ln>
        </p:spPr>
      </p:sp>
      <p:sp>
        <p:nvSpPr>
          <p:cNvPr id="14" name="Text 11"/>
          <p:cNvSpPr txBox="1"/>
          <p:nvPr/>
        </p:nvSpPr>
        <p:spPr>
          <a:xfrm>
            <a:off x="685800" y="3474720"/>
            <a:ext cx="3703320" cy="292608"/>
          </a:xfrm>
          <a:prstGeom prst="rect">
            <a:avLst/>
          </a:prstGeom>
          <a:noFill/>
          <a:ln/>
        </p:spPr>
        <p:txBody>
          <a:bodyPr wrap="square" lIns="0" tIns="0" rIns="0" bIns="0" rtlCol="0" anchor="t"/>
          <a:lstStyle/>
          <a:p>
            <a:pPr marL="0" indent="0">
              <a:buNone/>
            </a:pPr>
            <a:r>
              <a:rPr lang="en-US" sz="1400" b="1" dirty="0">
                <a:solidFill>
                  <a:srgbClr val="0B1220"/>
                </a:solidFill>
              </a:rPr>
              <a:t>Known limits</a:t>
            </a:r>
            <a:endParaRPr lang="en-US" sz="1400" dirty="0"/>
          </a:p>
        </p:txBody>
      </p:sp>
      <p:sp>
        <p:nvSpPr>
          <p:cNvPr id="15" name="Text 12"/>
          <p:cNvSpPr txBox="1"/>
          <p:nvPr/>
        </p:nvSpPr>
        <p:spPr>
          <a:xfrm>
            <a:off x="685800" y="3794760"/>
            <a:ext cx="370332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N is weakest (54% recall, confused with M). Only one main signer in training. J and Z use rules, not learning.</a:t>
            </a:r>
            <a:endParaRPr lang="en-US" sz="1150" dirty="0"/>
          </a:p>
        </p:txBody>
      </p:sp>
      <p:sp>
        <p:nvSpPr>
          <p:cNvPr id="16" name="Shape 13"/>
          <p:cNvSpPr/>
          <p:nvPr/>
        </p:nvSpPr>
        <p:spPr>
          <a:xfrm>
            <a:off x="4663440" y="3383280"/>
            <a:ext cx="3977640" cy="1280160"/>
          </a:xfrm>
          <a:prstGeom prst="rect">
            <a:avLst/>
          </a:prstGeom>
          <a:solidFill>
            <a:srgbClr val="FFFFFF"/>
          </a:solidFill>
          <a:ln w="12700">
            <a:solidFill>
              <a:srgbClr val="DCE3EE"/>
            </a:solidFill>
            <a:prstDash val="solid"/>
          </a:ln>
        </p:spPr>
      </p:sp>
      <p:sp>
        <p:nvSpPr>
          <p:cNvPr id="17" name="Shape 14"/>
          <p:cNvSpPr/>
          <p:nvPr/>
        </p:nvSpPr>
        <p:spPr>
          <a:xfrm>
            <a:off x="4663440" y="3383280"/>
            <a:ext cx="64008" cy="1280160"/>
          </a:xfrm>
          <a:prstGeom prst="rect">
            <a:avLst/>
          </a:prstGeom>
          <a:solidFill>
            <a:srgbClr val="2F7BF6"/>
          </a:solidFill>
          <a:ln w="12700">
            <a:solidFill>
              <a:srgbClr val="2F7BF6"/>
            </a:solidFill>
            <a:prstDash val="solid"/>
          </a:ln>
        </p:spPr>
      </p:sp>
      <p:sp>
        <p:nvSpPr>
          <p:cNvPr id="18" name="Text 15"/>
          <p:cNvSpPr txBox="1"/>
          <p:nvPr/>
        </p:nvSpPr>
        <p:spPr>
          <a:xfrm>
            <a:off x="4846320" y="3474720"/>
            <a:ext cx="3703320" cy="292608"/>
          </a:xfrm>
          <a:prstGeom prst="rect">
            <a:avLst/>
          </a:prstGeom>
          <a:noFill/>
          <a:ln/>
        </p:spPr>
        <p:txBody>
          <a:bodyPr wrap="square" lIns="0" tIns="0" rIns="0" bIns="0" rtlCol="0" anchor="t"/>
          <a:lstStyle/>
          <a:p>
            <a:pPr marL="0" indent="0">
              <a:buNone/>
            </a:pPr>
            <a:r>
              <a:rPr lang="en-US" sz="1400" b="1" dirty="0">
                <a:solidFill>
                  <a:srgbClr val="0B1220"/>
                </a:solidFill>
              </a:rPr>
              <a:t>Next steps</a:t>
            </a:r>
            <a:endParaRPr lang="en-US" sz="1400" dirty="0"/>
          </a:p>
        </p:txBody>
      </p:sp>
      <p:sp>
        <p:nvSpPr>
          <p:cNvPr id="19" name="Text 16"/>
          <p:cNvSpPr txBox="1"/>
          <p:nvPr/>
        </p:nvSpPr>
        <p:spPr>
          <a:xfrm>
            <a:off x="4846320" y="3794760"/>
            <a:ext cx="3703320" cy="804672"/>
          </a:xfrm>
          <a:prstGeom prst="rect">
            <a:avLst/>
          </a:prstGeom>
          <a:noFill/>
          <a:ln/>
        </p:spPr>
        <p:txBody>
          <a:bodyPr wrap="square" lIns="0" tIns="0" rIns="0" bIns="0" rtlCol="0" anchor="t"/>
          <a:lstStyle/>
          <a:p>
            <a:pPr marL="0" indent="0">
              <a:spcAft>
                <a:spcPts val="300"/>
              </a:spcAft>
              <a:buNone/>
            </a:pPr>
            <a:r>
              <a:rPr lang="en-US" sz="1150" dirty="0">
                <a:solidFill>
                  <a:srgbClr val="1F2937"/>
                </a:solidFill>
              </a:rPr>
              <a:t>More signers and more N data, a learned model for J and Z, then whole words and phrases.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F7BF6"/>
          </a:solidFill>
          <a:ln w="12700">
            <a:solidFill>
              <a:srgbClr val="2F7BF6"/>
            </a:solidFill>
            <a:prstDash val="solid"/>
          </a:ln>
        </p:spPr>
      </p:sp>
      <p:sp>
        <p:nvSpPr>
          <p:cNvPr id="3" name="Text 1"/>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5400" b="1" dirty="0">
                <a:solidFill>
                  <a:srgbClr val="FFFFFF"/>
                </a:solidFill>
              </a:rPr>
              <a:t>Thank you</a:t>
            </a:r>
            <a:endParaRPr lang="en-US" sz="5400" dirty="0"/>
          </a:p>
        </p:txBody>
      </p:sp>
      <p:sp>
        <p:nvSpPr>
          <p:cNvPr id="4" name="Text 2"/>
          <p:cNvSpPr txBox="1"/>
          <p:nvPr/>
        </p:nvSpPr>
        <p:spPr>
          <a:xfrm>
            <a:off x="548640" y="2194560"/>
            <a:ext cx="8046720" cy="457200"/>
          </a:xfrm>
          <a:prstGeom prst="rect">
            <a:avLst/>
          </a:prstGeom>
          <a:noFill/>
          <a:ln/>
        </p:spPr>
        <p:txBody>
          <a:bodyPr wrap="square" lIns="0" tIns="0" rIns="0" bIns="0" rtlCol="0" anchor="ctr"/>
          <a:lstStyle/>
          <a:p>
            <a:pPr marL="0" indent="0">
              <a:buNone/>
            </a:pPr>
            <a:r>
              <a:rPr lang="en-US" sz="1700" dirty="0">
                <a:solidFill>
                  <a:srgbClr val="C9D4E5"/>
                </a:solidFill>
              </a:rPr>
              <a:t>Edge AI that runs on the device  |  Built with vibe coding  |  Verified honestly</a:t>
            </a:r>
            <a:endParaRPr lang="en-US" sz="1700" dirty="0"/>
          </a:p>
        </p:txBody>
      </p:sp>
      <p:sp>
        <p:nvSpPr>
          <p:cNvPr id="5" name="Text 3"/>
          <p:cNvSpPr txBox="1"/>
          <p:nvPr/>
        </p:nvSpPr>
        <p:spPr>
          <a:xfrm>
            <a:off x="548640" y="3108960"/>
            <a:ext cx="5486400" cy="411480"/>
          </a:xfrm>
          <a:prstGeom prst="rect">
            <a:avLst/>
          </a:prstGeom>
          <a:noFill/>
          <a:ln/>
        </p:spPr>
        <p:txBody>
          <a:bodyPr wrap="square" lIns="0" tIns="0" rIns="0" bIns="0" rtlCol="0" anchor="ctr"/>
          <a:lstStyle/>
          <a:p>
            <a:pPr marL="0" indent="0">
              <a:buNone/>
            </a:pPr>
            <a:r>
              <a:rPr lang="en-US" sz="2000" b="1" dirty="0">
                <a:solidFill>
                  <a:srgbClr val="2F7BF6"/>
                </a:solidFill>
              </a:rPr>
              <a:t>Questions and live demo</a:t>
            </a:r>
            <a:endParaRPr lang="en-US" sz="2000" dirty="0"/>
          </a:p>
        </p:txBody>
      </p:sp>
      <p:pic>
        <p:nvPicPr>
          <p:cNvPr id="6" name="Image 0" descr="/home/claude/assets/render-check.png"/>
          <p:cNvPicPr>
            <a:picLocks noChangeAspect="1"/>
          </p:cNvPicPr>
          <p:nvPr/>
        </p:nvPicPr>
        <p:blipFill>
          <a:blip r:embed="rId3">
            <a:alphaModFix amt="65000"/>
          </a:blip>
          <a:stretch>
            <a:fillRect/>
          </a:stretch>
        </p:blipFill>
        <p:spPr>
          <a:xfrm>
            <a:off x="548640" y="3657600"/>
            <a:ext cx="8046720" cy="1444283"/>
          </a:xfrm>
          <a:prstGeom prst="rect">
            <a:avLst/>
          </a:prstGeom>
        </p:spPr>
      </p:pic>
    </p:spTree>
  </p:cSld>
  <p:clrMapOvr>
    <a:masterClrMapping/>
  </p:clrMapOvr>
</p:sld>
</file>

<file path=ppt/theme/theme1.xml><?xml version="1.0" encoding="utf-8"?>
<a:theme xmlns:a="http://schemas.openxmlformats.org/drawingml/2006/main" name="ASL Edge">
  <a:themeElements>
    <a:clrScheme name="ASL Edge">
      <a:dk1>
        <a:srgbClr val="0B1220"/>
      </a:dk1>
      <a:lt1>
        <a:srgbClr val="FFFFFF"/>
      </a:lt1>
      <a:dk2>
        <a:srgbClr val="16233B"/>
      </a:dk2>
      <a:lt2>
        <a:srgbClr val="F4F7FB"/>
      </a:lt2>
      <a:accent1>
        <a:srgbClr val="2F7BF6"/>
      </a:accent1>
      <a:accent2>
        <a:srgbClr val="22C55E"/>
      </a:accent2>
      <a:accent3>
        <a:srgbClr val="F59E0B"/>
      </a:accent3>
      <a:accent4>
        <a:srgbClr val="EF4444"/>
      </a:accent4>
      <a:accent5>
        <a:srgbClr val="8B5CF6"/>
      </a:accent5>
      <a:accent6>
        <a:srgbClr val="06B6D4"/>
      </a:accent6>
      <a:hlink>
        <a:srgbClr val="2F7BF6"/>
      </a:hlink>
      <a:folHlink>
        <a:srgbClr val="8B5CF6"/>
      </a:folHlink>
    </a:clrScheme>
    <a:fontScheme name="ASL Edg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PresentationFormat>On-screen Show (16:9)</PresentationFormat>
  <Paragraphs>113</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ASL Edge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ASL Translator - Edge AI</dc:title>
  <dc:subject>PptxGenJS Presentation</dc:subject>
  <dc:creator>PptxGenJS</dc:creator>
  <cp:lastModifiedBy>Arnav Sharma</cp:lastModifiedBy>
  <cp:revision>2</cp:revision>
  <dcterms:created xsi:type="dcterms:W3CDTF">2026-10-14T16:19:20Z</dcterms:created>
  <dcterms:modified xsi:type="dcterms:W3CDTF">2026-10-14T16:22:16Z</dcterms:modified>
</cp:coreProperties>
</file>